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94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71" r:id="rId12"/>
    <p:sldId id="274" r:id="rId13"/>
    <p:sldId id="275" r:id="rId14"/>
    <p:sldId id="276" r:id="rId15"/>
    <p:sldId id="300" r:id="rId16"/>
    <p:sldId id="296" r:id="rId17"/>
    <p:sldId id="297" r:id="rId18"/>
    <p:sldId id="298" r:id="rId19"/>
    <p:sldId id="281" r:id="rId20"/>
    <p:sldId id="282" r:id="rId21"/>
    <p:sldId id="290" r:id="rId22"/>
    <p:sldId id="291" r:id="rId23"/>
  </p:sldIdLst>
  <p:sldSz cx="12192000" cy="6858000"/>
  <p:notesSz cx="6858000" cy="9144000"/>
  <p:embeddedFontLst>
    <p:embeddedFont>
      <p:font typeface="OPPOSans B" pitchFamily="18" charset="-122"/>
      <p:regular r:id="rId25"/>
    </p:embeddedFont>
    <p:embeddedFont>
      <p:font typeface="OPPOSans H" pitchFamily="18" charset="-122"/>
      <p:regular r:id="rId26"/>
    </p:embeddedFont>
    <p:embeddedFont>
      <p:font typeface="Source Han Sans CN Bold Bold" panose="020B0800000000000000" pitchFamily="34" charset="-128"/>
      <p:regular r:id="rId27"/>
      <p:bold r:id="rId28"/>
    </p:embeddedFont>
    <p:embeddedFont>
      <p:font typeface="Source Han Sans CN Normal" panose="020B0400000000000000" pitchFamily="34" charset="-128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859B0-6EEB-0C4C-99A8-F5D8B6B2EAF7}" v="440" dt="2025-04-14T14:37:5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43"/>
    <p:restoredTop sz="86419"/>
  </p:normalViewPr>
  <p:slideViewPr>
    <p:cSldViewPr snapToGrid="0">
      <p:cViewPr>
        <p:scale>
          <a:sx n="106" d="100"/>
          <a:sy n="106" d="100"/>
        </p:scale>
        <p:origin x="57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84B8B8-8552-A541-8704-1C15D7C16E41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85FCFF5-9110-DB4E-A289-FB620BD609CD}">
      <dgm:prSet phldrT="[Text]"/>
      <dgm:spPr/>
      <dgm:t>
        <a:bodyPr/>
        <a:lstStyle/>
        <a:p>
          <a:r>
            <a:rPr lang="en-GB" dirty="0"/>
            <a:t>Logic Regression</a:t>
          </a:r>
        </a:p>
      </dgm:t>
    </dgm:pt>
    <dgm:pt modelId="{67186599-884C-F24D-97B5-E07F2BA85E2E}" type="parTrans" cxnId="{9DAF2238-2AEB-2F4E-BCA7-D7B22B1D4867}">
      <dgm:prSet/>
      <dgm:spPr/>
      <dgm:t>
        <a:bodyPr/>
        <a:lstStyle/>
        <a:p>
          <a:endParaRPr lang="en-GB"/>
        </a:p>
      </dgm:t>
    </dgm:pt>
    <dgm:pt modelId="{9A5DF963-48C8-F84B-8473-8829611C983F}" type="sibTrans" cxnId="{9DAF2238-2AEB-2F4E-BCA7-D7B22B1D4867}">
      <dgm:prSet/>
      <dgm:spPr/>
      <dgm:t>
        <a:bodyPr/>
        <a:lstStyle/>
        <a:p>
          <a:endParaRPr lang="en-GB"/>
        </a:p>
      </dgm:t>
    </dgm:pt>
    <dgm:pt modelId="{7550978E-C735-3D4A-828C-814D38566D39}">
      <dgm:prSet phldrT="[Text]" custT="1"/>
      <dgm:spPr/>
      <dgm:t>
        <a:bodyPr/>
        <a:lstStyle/>
        <a:p>
          <a:r>
            <a:rPr lang="en-GB" sz="1400" dirty="0"/>
            <a:t>Supervised machine learning algorithm for binary classification</a:t>
          </a:r>
        </a:p>
      </dgm:t>
    </dgm:pt>
    <dgm:pt modelId="{C76FB45F-68BD-6044-9830-B4BA7ACEF410}" type="parTrans" cxnId="{2DF054DC-E36A-FC4B-9743-9767EC9829F1}">
      <dgm:prSet/>
      <dgm:spPr/>
      <dgm:t>
        <a:bodyPr/>
        <a:lstStyle/>
        <a:p>
          <a:endParaRPr lang="en-GB"/>
        </a:p>
      </dgm:t>
    </dgm:pt>
    <dgm:pt modelId="{ACA1860B-1B8F-D741-86FB-B53EE4830300}" type="sibTrans" cxnId="{2DF054DC-E36A-FC4B-9743-9767EC9829F1}">
      <dgm:prSet/>
      <dgm:spPr/>
      <dgm:t>
        <a:bodyPr/>
        <a:lstStyle/>
        <a:p>
          <a:endParaRPr lang="en-GB"/>
        </a:p>
      </dgm:t>
    </dgm:pt>
    <dgm:pt modelId="{785C45DD-ABA4-EA4F-AC3E-661414BC845E}">
      <dgm:prSet phldrT="[Text]"/>
      <dgm:spPr/>
      <dgm:t>
        <a:bodyPr/>
        <a:lstStyle/>
        <a:p>
          <a:r>
            <a:rPr lang="en-GB" dirty="0"/>
            <a:t>RNN</a:t>
          </a:r>
        </a:p>
      </dgm:t>
    </dgm:pt>
    <dgm:pt modelId="{21B87BF1-A935-914D-B5FD-831FFB0C5D87}" type="parTrans" cxnId="{AB4358EE-62E2-994C-82DF-F899BD13054E}">
      <dgm:prSet/>
      <dgm:spPr/>
      <dgm:t>
        <a:bodyPr/>
        <a:lstStyle/>
        <a:p>
          <a:endParaRPr lang="en-GB"/>
        </a:p>
      </dgm:t>
    </dgm:pt>
    <dgm:pt modelId="{6FFD47FE-8E23-C346-A61E-7E1D62A72347}" type="sibTrans" cxnId="{AB4358EE-62E2-994C-82DF-F899BD13054E}">
      <dgm:prSet/>
      <dgm:spPr/>
      <dgm:t>
        <a:bodyPr/>
        <a:lstStyle/>
        <a:p>
          <a:endParaRPr lang="en-GB"/>
        </a:p>
      </dgm:t>
    </dgm:pt>
    <dgm:pt modelId="{EFFD9EF4-F33C-2C4B-80C8-002A3258F6E4}">
      <dgm:prSet phldrT="[Text]" custT="1"/>
      <dgm:spPr/>
      <dgm:t>
        <a:bodyPr/>
        <a:lstStyle/>
        <a:p>
          <a:r>
            <a:rPr lang="en-GB" sz="1400" dirty="0"/>
            <a:t>Process sequential data by learning temporal dependencies</a:t>
          </a:r>
        </a:p>
      </dgm:t>
    </dgm:pt>
    <dgm:pt modelId="{A39EC2B2-6128-CA49-9F8E-2AC5D0AA142A}" type="parTrans" cxnId="{9158761C-790F-A345-A0B8-E04B635849F3}">
      <dgm:prSet/>
      <dgm:spPr/>
      <dgm:t>
        <a:bodyPr/>
        <a:lstStyle/>
        <a:p>
          <a:endParaRPr lang="en-GB"/>
        </a:p>
      </dgm:t>
    </dgm:pt>
    <dgm:pt modelId="{C0603C97-FC50-4F44-8F42-ED29F01EADC4}" type="sibTrans" cxnId="{9158761C-790F-A345-A0B8-E04B635849F3}">
      <dgm:prSet/>
      <dgm:spPr/>
      <dgm:t>
        <a:bodyPr/>
        <a:lstStyle/>
        <a:p>
          <a:endParaRPr lang="en-GB"/>
        </a:p>
      </dgm:t>
    </dgm:pt>
    <dgm:pt modelId="{43E52A6D-8525-724B-AFB5-8D70405986DE}">
      <dgm:prSet phldrT="[Text]"/>
      <dgm:spPr/>
      <dgm:t>
        <a:bodyPr/>
        <a:lstStyle/>
        <a:p>
          <a:r>
            <a:rPr lang="en-GB" dirty="0"/>
            <a:t>CNN</a:t>
          </a:r>
        </a:p>
      </dgm:t>
    </dgm:pt>
    <dgm:pt modelId="{CDC4667A-3444-7F46-ADD8-61EBDDA61284}" type="parTrans" cxnId="{B080C457-4573-8F43-8491-197AB20A73DE}">
      <dgm:prSet/>
      <dgm:spPr/>
      <dgm:t>
        <a:bodyPr/>
        <a:lstStyle/>
        <a:p>
          <a:endParaRPr lang="en-GB"/>
        </a:p>
      </dgm:t>
    </dgm:pt>
    <dgm:pt modelId="{D6F3299D-EDC8-934A-A938-790F393DF1E2}" type="sibTrans" cxnId="{B080C457-4573-8F43-8491-197AB20A73DE}">
      <dgm:prSet/>
      <dgm:spPr/>
      <dgm:t>
        <a:bodyPr/>
        <a:lstStyle/>
        <a:p>
          <a:endParaRPr lang="en-GB"/>
        </a:p>
      </dgm:t>
    </dgm:pt>
    <dgm:pt modelId="{F32FB22A-FE00-4348-9DF6-F0233170A104}">
      <dgm:prSet phldrT="[Text]" custT="1"/>
      <dgm:spPr/>
      <dgm:t>
        <a:bodyPr/>
        <a:lstStyle/>
        <a:p>
          <a:r>
            <a:rPr lang="en-GB" sz="1400" dirty="0"/>
            <a:t>Extracts local features from text, effective for NLP and sequential tasks</a:t>
          </a:r>
        </a:p>
      </dgm:t>
    </dgm:pt>
    <dgm:pt modelId="{72322AFB-B6BC-F148-8ED7-A5E8570D3E75}" type="parTrans" cxnId="{199FAC4C-1C75-CF42-A2F3-8A54FC406435}">
      <dgm:prSet/>
      <dgm:spPr/>
      <dgm:t>
        <a:bodyPr/>
        <a:lstStyle/>
        <a:p>
          <a:endParaRPr lang="en-GB"/>
        </a:p>
      </dgm:t>
    </dgm:pt>
    <dgm:pt modelId="{192CF125-13ED-9942-ABFE-BC3684471A45}" type="sibTrans" cxnId="{199FAC4C-1C75-CF42-A2F3-8A54FC406435}">
      <dgm:prSet/>
      <dgm:spPr/>
      <dgm:t>
        <a:bodyPr/>
        <a:lstStyle/>
        <a:p>
          <a:endParaRPr lang="en-GB"/>
        </a:p>
      </dgm:t>
    </dgm:pt>
    <dgm:pt modelId="{92C3D2FF-6617-B849-8C13-407FE61BB25E}">
      <dgm:prSet/>
      <dgm:spPr/>
      <dgm:t>
        <a:bodyPr/>
        <a:lstStyle/>
        <a:p>
          <a:r>
            <a:rPr lang="en-GB" dirty="0"/>
            <a:t>BERT</a:t>
          </a:r>
        </a:p>
      </dgm:t>
    </dgm:pt>
    <dgm:pt modelId="{4DCB4838-6A3A-5844-9659-67C0AFC1B37B}" type="parTrans" cxnId="{EDECB4A1-D74B-F34E-A4B6-F7BDA5AEF497}">
      <dgm:prSet/>
      <dgm:spPr/>
      <dgm:t>
        <a:bodyPr/>
        <a:lstStyle/>
        <a:p>
          <a:endParaRPr lang="en-GB"/>
        </a:p>
      </dgm:t>
    </dgm:pt>
    <dgm:pt modelId="{4DA46A90-5921-E648-A58B-CC23A1E00FEC}" type="sibTrans" cxnId="{EDECB4A1-D74B-F34E-A4B6-F7BDA5AEF497}">
      <dgm:prSet/>
      <dgm:spPr/>
      <dgm:t>
        <a:bodyPr/>
        <a:lstStyle/>
        <a:p>
          <a:endParaRPr lang="en-GB"/>
        </a:p>
      </dgm:t>
    </dgm:pt>
    <dgm:pt modelId="{FF4595CE-4160-B24F-8043-015CCFDC7B63}">
      <dgm:prSet custT="1"/>
      <dgm:spPr/>
      <dgm:t>
        <a:bodyPr/>
        <a:lstStyle/>
        <a:p>
          <a:r>
            <a:rPr lang="en-GB" sz="1400" dirty="0"/>
            <a:t>Captures bidirectional context for robust NLP Tasks</a:t>
          </a:r>
        </a:p>
      </dgm:t>
    </dgm:pt>
    <dgm:pt modelId="{FA7BA20E-DA19-1D4B-85E8-CF072BE398FA}" type="parTrans" cxnId="{8E82E7DF-BF3C-0F45-8BD1-3AF88BA53A31}">
      <dgm:prSet/>
      <dgm:spPr/>
      <dgm:t>
        <a:bodyPr/>
        <a:lstStyle/>
        <a:p>
          <a:endParaRPr lang="en-GB"/>
        </a:p>
      </dgm:t>
    </dgm:pt>
    <dgm:pt modelId="{F29CD4BC-7828-3946-8146-B7F6093BE0FE}" type="sibTrans" cxnId="{8E82E7DF-BF3C-0F45-8BD1-3AF88BA53A31}">
      <dgm:prSet/>
      <dgm:spPr/>
      <dgm:t>
        <a:bodyPr/>
        <a:lstStyle/>
        <a:p>
          <a:endParaRPr lang="en-GB"/>
        </a:p>
      </dgm:t>
    </dgm:pt>
    <dgm:pt modelId="{EEB6B3F6-8475-904E-9D96-C37910E90EA1}" type="pres">
      <dgm:prSet presAssocID="{6D84B8B8-8552-A541-8704-1C15D7C16E41}" presName="Name0" presStyleCnt="0">
        <dgm:presLayoutVars>
          <dgm:dir/>
          <dgm:animLvl val="lvl"/>
          <dgm:resizeHandles val="exact"/>
        </dgm:presLayoutVars>
      </dgm:prSet>
      <dgm:spPr/>
    </dgm:pt>
    <dgm:pt modelId="{E391F8D5-0BB9-8447-88B1-4D06D4C8D881}" type="pres">
      <dgm:prSet presAssocID="{685FCFF5-9110-DB4E-A289-FB620BD609CD}" presName="composite" presStyleCnt="0"/>
      <dgm:spPr/>
    </dgm:pt>
    <dgm:pt modelId="{F246E940-EC95-6B4B-A0B3-C49610757FA5}" type="pres">
      <dgm:prSet presAssocID="{685FCFF5-9110-DB4E-A289-FB620BD609C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D4C8CAD-05B2-264B-BBF0-01B54C277452}" type="pres">
      <dgm:prSet presAssocID="{685FCFF5-9110-DB4E-A289-FB620BD609CD}" presName="desTx" presStyleLbl="alignAccFollowNode1" presStyleIdx="0" presStyleCnt="4">
        <dgm:presLayoutVars>
          <dgm:bulletEnabled val="1"/>
        </dgm:presLayoutVars>
      </dgm:prSet>
      <dgm:spPr/>
    </dgm:pt>
    <dgm:pt modelId="{E04C0A9C-CDF0-D345-B2B9-52B1051C9614}" type="pres">
      <dgm:prSet presAssocID="{9A5DF963-48C8-F84B-8473-8829611C983F}" presName="space" presStyleCnt="0"/>
      <dgm:spPr/>
    </dgm:pt>
    <dgm:pt modelId="{629964F4-4C07-0145-BFF8-41BDCAFDDD2B}" type="pres">
      <dgm:prSet presAssocID="{785C45DD-ABA4-EA4F-AC3E-661414BC845E}" presName="composite" presStyleCnt="0"/>
      <dgm:spPr/>
    </dgm:pt>
    <dgm:pt modelId="{6EDC6581-0DAD-064C-8E9F-0AA7A26CB209}" type="pres">
      <dgm:prSet presAssocID="{785C45DD-ABA4-EA4F-AC3E-661414BC845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AB875E3-0F8F-D94E-A7F3-DF8796D91503}" type="pres">
      <dgm:prSet presAssocID="{785C45DD-ABA4-EA4F-AC3E-661414BC845E}" presName="desTx" presStyleLbl="alignAccFollowNode1" presStyleIdx="1" presStyleCnt="4">
        <dgm:presLayoutVars>
          <dgm:bulletEnabled val="1"/>
        </dgm:presLayoutVars>
      </dgm:prSet>
      <dgm:spPr/>
    </dgm:pt>
    <dgm:pt modelId="{CD83A8B8-216C-1A41-9BE1-2A17307F39A4}" type="pres">
      <dgm:prSet presAssocID="{6FFD47FE-8E23-C346-A61E-7E1D62A72347}" presName="space" presStyleCnt="0"/>
      <dgm:spPr/>
    </dgm:pt>
    <dgm:pt modelId="{2DC607E6-9512-8C47-8378-21FAC0D6C6A5}" type="pres">
      <dgm:prSet presAssocID="{43E52A6D-8525-724B-AFB5-8D70405986DE}" presName="composite" presStyleCnt="0"/>
      <dgm:spPr/>
    </dgm:pt>
    <dgm:pt modelId="{A65F4611-65D4-854A-A28E-C1696A2756CA}" type="pres">
      <dgm:prSet presAssocID="{43E52A6D-8525-724B-AFB5-8D70405986D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6813F311-2C92-CF44-A5FB-3D98C9B9A3CF}" type="pres">
      <dgm:prSet presAssocID="{43E52A6D-8525-724B-AFB5-8D70405986DE}" presName="desTx" presStyleLbl="alignAccFollowNode1" presStyleIdx="2" presStyleCnt="4">
        <dgm:presLayoutVars>
          <dgm:bulletEnabled val="1"/>
        </dgm:presLayoutVars>
      </dgm:prSet>
      <dgm:spPr/>
    </dgm:pt>
    <dgm:pt modelId="{D5FBE8E0-2A2D-3046-8AA1-0B8DC52AD742}" type="pres">
      <dgm:prSet presAssocID="{D6F3299D-EDC8-934A-A938-790F393DF1E2}" presName="space" presStyleCnt="0"/>
      <dgm:spPr/>
    </dgm:pt>
    <dgm:pt modelId="{63D046E3-F927-584F-A8A0-DC06B1665353}" type="pres">
      <dgm:prSet presAssocID="{92C3D2FF-6617-B849-8C13-407FE61BB25E}" presName="composite" presStyleCnt="0"/>
      <dgm:spPr/>
    </dgm:pt>
    <dgm:pt modelId="{3FF8243D-ABA7-AC41-A78E-CFFD3C0F8125}" type="pres">
      <dgm:prSet presAssocID="{92C3D2FF-6617-B849-8C13-407FE61BB25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3BFB0C5-49DE-5347-99DC-7E683BC58ACA}" type="pres">
      <dgm:prSet presAssocID="{92C3D2FF-6617-B849-8C13-407FE61BB25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553AF0C-F0F7-5C4D-961C-AC45B9528C0C}" type="presOf" srcId="{785C45DD-ABA4-EA4F-AC3E-661414BC845E}" destId="{6EDC6581-0DAD-064C-8E9F-0AA7A26CB209}" srcOrd="0" destOrd="0" presId="urn:microsoft.com/office/officeart/2005/8/layout/hList1"/>
    <dgm:cxn modelId="{9158761C-790F-A345-A0B8-E04B635849F3}" srcId="{785C45DD-ABA4-EA4F-AC3E-661414BC845E}" destId="{EFFD9EF4-F33C-2C4B-80C8-002A3258F6E4}" srcOrd="0" destOrd="0" parTransId="{A39EC2B2-6128-CA49-9F8E-2AC5D0AA142A}" sibTransId="{C0603C97-FC50-4F44-8F42-ED29F01EADC4}"/>
    <dgm:cxn modelId="{9DAF2238-2AEB-2F4E-BCA7-D7B22B1D4867}" srcId="{6D84B8B8-8552-A541-8704-1C15D7C16E41}" destId="{685FCFF5-9110-DB4E-A289-FB620BD609CD}" srcOrd="0" destOrd="0" parTransId="{67186599-884C-F24D-97B5-E07F2BA85E2E}" sibTransId="{9A5DF963-48C8-F84B-8473-8829611C983F}"/>
    <dgm:cxn modelId="{C2DB533C-6001-4C46-AEA6-7A59124E816C}" type="presOf" srcId="{EFFD9EF4-F33C-2C4B-80C8-002A3258F6E4}" destId="{4AB875E3-0F8F-D94E-A7F3-DF8796D91503}" srcOrd="0" destOrd="0" presId="urn:microsoft.com/office/officeart/2005/8/layout/hList1"/>
    <dgm:cxn modelId="{199FAC4C-1C75-CF42-A2F3-8A54FC406435}" srcId="{43E52A6D-8525-724B-AFB5-8D70405986DE}" destId="{F32FB22A-FE00-4348-9DF6-F0233170A104}" srcOrd="0" destOrd="0" parTransId="{72322AFB-B6BC-F148-8ED7-A5E8570D3E75}" sibTransId="{192CF125-13ED-9942-ABFE-BC3684471A45}"/>
    <dgm:cxn modelId="{B080C457-4573-8F43-8491-197AB20A73DE}" srcId="{6D84B8B8-8552-A541-8704-1C15D7C16E41}" destId="{43E52A6D-8525-724B-AFB5-8D70405986DE}" srcOrd="2" destOrd="0" parTransId="{CDC4667A-3444-7F46-ADD8-61EBDDA61284}" sibTransId="{D6F3299D-EDC8-934A-A938-790F393DF1E2}"/>
    <dgm:cxn modelId="{5696357D-BED5-D849-A831-1655B4B88487}" type="presOf" srcId="{FF4595CE-4160-B24F-8043-015CCFDC7B63}" destId="{13BFB0C5-49DE-5347-99DC-7E683BC58ACA}" srcOrd="0" destOrd="0" presId="urn:microsoft.com/office/officeart/2005/8/layout/hList1"/>
    <dgm:cxn modelId="{EDECB4A1-D74B-F34E-A4B6-F7BDA5AEF497}" srcId="{6D84B8B8-8552-A541-8704-1C15D7C16E41}" destId="{92C3D2FF-6617-B849-8C13-407FE61BB25E}" srcOrd="3" destOrd="0" parTransId="{4DCB4838-6A3A-5844-9659-67C0AFC1B37B}" sibTransId="{4DA46A90-5921-E648-A58B-CC23A1E00FEC}"/>
    <dgm:cxn modelId="{224D63A8-D6EF-FD4F-8F37-F0CC73C987F5}" type="presOf" srcId="{685FCFF5-9110-DB4E-A289-FB620BD609CD}" destId="{F246E940-EC95-6B4B-A0B3-C49610757FA5}" srcOrd="0" destOrd="0" presId="urn:microsoft.com/office/officeart/2005/8/layout/hList1"/>
    <dgm:cxn modelId="{75044FB6-2EC2-AA48-A147-575E7C52AEB2}" type="presOf" srcId="{43E52A6D-8525-724B-AFB5-8D70405986DE}" destId="{A65F4611-65D4-854A-A28E-C1696A2756CA}" srcOrd="0" destOrd="0" presId="urn:microsoft.com/office/officeart/2005/8/layout/hList1"/>
    <dgm:cxn modelId="{989629B8-FD56-6948-BB43-3A1F975628B6}" type="presOf" srcId="{92C3D2FF-6617-B849-8C13-407FE61BB25E}" destId="{3FF8243D-ABA7-AC41-A78E-CFFD3C0F8125}" srcOrd="0" destOrd="0" presId="urn:microsoft.com/office/officeart/2005/8/layout/hList1"/>
    <dgm:cxn modelId="{19062CCC-CBFF-BA4A-9032-EBB714AD2E55}" type="presOf" srcId="{6D84B8B8-8552-A541-8704-1C15D7C16E41}" destId="{EEB6B3F6-8475-904E-9D96-C37910E90EA1}" srcOrd="0" destOrd="0" presId="urn:microsoft.com/office/officeart/2005/8/layout/hList1"/>
    <dgm:cxn modelId="{72E437D7-9C74-6A42-A163-304253FE68C8}" type="presOf" srcId="{F32FB22A-FE00-4348-9DF6-F0233170A104}" destId="{6813F311-2C92-CF44-A5FB-3D98C9B9A3CF}" srcOrd="0" destOrd="0" presId="urn:microsoft.com/office/officeart/2005/8/layout/hList1"/>
    <dgm:cxn modelId="{2DF054DC-E36A-FC4B-9743-9767EC9829F1}" srcId="{685FCFF5-9110-DB4E-A289-FB620BD609CD}" destId="{7550978E-C735-3D4A-828C-814D38566D39}" srcOrd="0" destOrd="0" parTransId="{C76FB45F-68BD-6044-9830-B4BA7ACEF410}" sibTransId="{ACA1860B-1B8F-D741-86FB-B53EE4830300}"/>
    <dgm:cxn modelId="{8E82E7DF-BF3C-0F45-8BD1-3AF88BA53A31}" srcId="{92C3D2FF-6617-B849-8C13-407FE61BB25E}" destId="{FF4595CE-4160-B24F-8043-015CCFDC7B63}" srcOrd="0" destOrd="0" parTransId="{FA7BA20E-DA19-1D4B-85E8-CF072BE398FA}" sibTransId="{F29CD4BC-7828-3946-8146-B7F6093BE0FE}"/>
    <dgm:cxn modelId="{AB4358EE-62E2-994C-82DF-F899BD13054E}" srcId="{6D84B8B8-8552-A541-8704-1C15D7C16E41}" destId="{785C45DD-ABA4-EA4F-AC3E-661414BC845E}" srcOrd="1" destOrd="0" parTransId="{21B87BF1-A935-914D-B5FD-831FFB0C5D87}" sibTransId="{6FFD47FE-8E23-C346-A61E-7E1D62A72347}"/>
    <dgm:cxn modelId="{883602F2-922E-E44C-9348-BC4893120DBD}" type="presOf" srcId="{7550978E-C735-3D4A-828C-814D38566D39}" destId="{BD4C8CAD-05B2-264B-BBF0-01B54C277452}" srcOrd="0" destOrd="0" presId="urn:microsoft.com/office/officeart/2005/8/layout/hList1"/>
    <dgm:cxn modelId="{887A1585-06ED-C24F-AA99-B4C3B0DD64CD}" type="presParOf" srcId="{EEB6B3F6-8475-904E-9D96-C37910E90EA1}" destId="{E391F8D5-0BB9-8447-88B1-4D06D4C8D881}" srcOrd="0" destOrd="0" presId="urn:microsoft.com/office/officeart/2005/8/layout/hList1"/>
    <dgm:cxn modelId="{6DD183EC-2079-DB45-9029-7489FFBE0F51}" type="presParOf" srcId="{E391F8D5-0BB9-8447-88B1-4D06D4C8D881}" destId="{F246E940-EC95-6B4B-A0B3-C49610757FA5}" srcOrd="0" destOrd="0" presId="urn:microsoft.com/office/officeart/2005/8/layout/hList1"/>
    <dgm:cxn modelId="{CC7AE18B-71E4-9B46-B8FE-DA3CB9A547A2}" type="presParOf" srcId="{E391F8D5-0BB9-8447-88B1-4D06D4C8D881}" destId="{BD4C8CAD-05B2-264B-BBF0-01B54C277452}" srcOrd="1" destOrd="0" presId="urn:microsoft.com/office/officeart/2005/8/layout/hList1"/>
    <dgm:cxn modelId="{932DFAB8-8B96-2B4C-9CAE-4BD355FAFF90}" type="presParOf" srcId="{EEB6B3F6-8475-904E-9D96-C37910E90EA1}" destId="{E04C0A9C-CDF0-D345-B2B9-52B1051C9614}" srcOrd="1" destOrd="0" presId="urn:microsoft.com/office/officeart/2005/8/layout/hList1"/>
    <dgm:cxn modelId="{9D9D234D-E3F1-5049-926B-808B16B0FEEF}" type="presParOf" srcId="{EEB6B3F6-8475-904E-9D96-C37910E90EA1}" destId="{629964F4-4C07-0145-BFF8-41BDCAFDDD2B}" srcOrd="2" destOrd="0" presId="urn:microsoft.com/office/officeart/2005/8/layout/hList1"/>
    <dgm:cxn modelId="{736E7C9F-A36A-FE41-9315-92D791780086}" type="presParOf" srcId="{629964F4-4C07-0145-BFF8-41BDCAFDDD2B}" destId="{6EDC6581-0DAD-064C-8E9F-0AA7A26CB209}" srcOrd="0" destOrd="0" presId="urn:microsoft.com/office/officeart/2005/8/layout/hList1"/>
    <dgm:cxn modelId="{0A5DF52D-2152-3C45-AC7D-D0A14FA7A309}" type="presParOf" srcId="{629964F4-4C07-0145-BFF8-41BDCAFDDD2B}" destId="{4AB875E3-0F8F-D94E-A7F3-DF8796D91503}" srcOrd="1" destOrd="0" presId="urn:microsoft.com/office/officeart/2005/8/layout/hList1"/>
    <dgm:cxn modelId="{139A3714-2866-B046-9B30-06DDF3B438A5}" type="presParOf" srcId="{EEB6B3F6-8475-904E-9D96-C37910E90EA1}" destId="{CD83A8B8-216C-1A41-9BE1-2A17307F39A4}" srcOrd="3" destOrd="0" presId="urn:microsoft.com/office/officeart/2005/8/layout/hList1"/>
    <dgm:cxn modelId="{4BBC0351-D34A-3F48-BBF8-34728B101F46}" type="presParOf" srcId="{EEB6B3F6-8475-904E-9D96-C37910E90EA1}" destId="{2DC607E6-9512-8C47-8378-21FAC0D6C6A5}" srcOrd="4" destOrd="0" presId="urn:microsoft.com/office/officeart/2005/8/layout/hList1"/>
    <dgm:cxn modelId="{ADFE2EA7-0A59-D34D-8E50-8857EA66C329}" type="presParOf" srcId="{2DC607E6-9512-8C47-8378-21FAC0D6C6A5}" destId="{A65F4611-65D4-854A-A28E-C1696A2756CA}" srcOrd="0" destOrd="0" presId="urn:microsoft.com/office/officeart/2005/8/layout/hList1"/>
    <dgm:cxn modelId="{E5E9BFCA-56A7-2D4B-BF57-F953550550DA}" type="presParOf" srcId="{2DC607E6-9512-8C47-8378-21FAC0D6C6A5}" destId="{6813F311-2C92-CF44-A5FB-3D98C9B9A3CF}" srcOrd="1" destOrd="0" presId="urn:microsoft.com/office/officeart/2005/8/layout/hList1"/>
    <dgm:cxn modelId="{E0FD00BA-358C-E148-865B-4FAF46BC9FB4}" type="presParOf" srcId="{EEB6B3F6-8475-904E-9D96-C37910E90EA1}" destId="{D5FBE8E0-2A2D-3046-8AA1-0B8DC52AD742}" srcOrd="5" destOrd="0" presId="urn:microsoft.com/office/officeart/2005/8/layout/hList1"/>
    <dgm:cxn modelId="{2D21C07E-CC82-1040-BBFE-A8FC11C7058A}" type="presParOf" srcId="{EEB6B3F6-8475-904E-9D96-C37910E90EA1}" destId="{63D046E3-F927-584F-A8A0-DC06B1665353}" srcOrd="6" destOrd="0" presId="urn:microsoft.com/office/officeart/2005/8/layout/hList1"/>
    <dgm:cxn modelId="{C594DD6A-40DD-D946-AA89-445F34DB28C0}" type="presParOf" srcId="{63D046E3-F927-584F-A8A0-DC06B1665353}" destId="{3FF8243D-ABA7-AC41-A78E-CFFD3C0F8125}" srcOrd="0" destOrd="0" presId="urn:microsoft.com/office/officeart/2005/8/layout/hList1"/>
    <dgm:cxn modelId="{B84A7247-77EF-314C-9225-7639B9D47A5B}" type="presParOf" srcId="{63D046E3-F927-584F-A8A0-DC06B1665353}" destId="{13BFB0C5-49DE-5347-99DC-7E683BC58A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25FD00-07D6-B645-80B6-F303C416A430}" type="doc">
      <dgm:prSet loTypeId="urn:microsoft.com/office/officeart/2005/8/layout/funnel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A0E1066-FABA-FA49-818A-EC3109D3E8D3}">
      <dgm:prSet phldrT="[Text]"/>
      <dgm:spPr/>
      <dgm:t>
        <a:bodyPr/>
        <a:lstStyle/>
        <a:p>
          <a:r>
            <a:rPr lang="en-SG" dirty="0"/>
            <a:t>Switched to Logistic Regression with TF-IDF</a:t>
          </a:r>
          <a:endParaRPr lang="en-GB" dirty="0"/>
        </a:p>
      </dgm:t>
    </dgm:pt>
    <dgm:pt modelId="{C7AC012E-5CA4-8548-9DD8-3BADAD26283C}" type="parTrans" cxnId="{D141DC71-01BD-4140-AE42-1AAB30737453}">
      <dgm:prSet/>
      <dgm:spPr/>
      <dgm:t>
        <a:bodyPr/>
        <a:lstStyle/>
        <a:p>
          <a:endParaRPr lang="en-GB"/>
        </a:p>
      </dgm:t>
    </dgm:pt>
    <dgm:pt modelId="{B819EBD2-5F34-4942-92EA-10732F04AC60}" type="sibTrans" cxnId="{D141DC71-01BD-4140-AE42-1AAB30737453}">
      <dgm:prSet/>
      <dgm:spPr/>
      <dgm:t>
        <a:bodyPr/>
        <a:lstStyle/>
        <a:p>
          <a:endParaRPr lang="en-GB"/>
        </a:p>
      </dgm:t>
    </dgm:pt>
    <dgm:pt modelId="{53C78744-22DA-6C43-B1DA-8E65F4A58394}">
      <dgm:prSet phldrT="[Text]"/>
      <dgm:spPr/>
      <dgm:t>
        <a:bodyPr/>
        <a:lstStyle/>
        <a:p>
          <a:r>
            <a:rPr lang="en-SG" dirty="0"/>
            <a:t>Started with Naive Bayes for quick prototyping</a:t>
          </a:r>
          <a:endParaRPr lang="en-GB" dirty="0"/>
        </a:p>
      </dgm:t>
    </dgm:pt>
    <dgm:pt modelId="{163A82DA-5D48-954D-ADCD-942831EB93C0}" type="parTrans" cxnId="{425382DF-5A03-D946-B32C-5D056E77EF71}">
      <dgm:prSet/>
      <dgm:spPr/>
      <dgm:t>
        <a:bodyPr/>
        <a:lstStyle/>
        <a:p>
          <a:endParaRPr lang="en-GB"/>
        </a:p>
      </dgm:t>
    </dgm:pt>
    <dgm:pt modelId="{BC9B426F-5689-DB45-AA42-5B22CD9A29FA}" type="sibTrans" cxnId="{425382DF-5A03-D946-B32C-5D056E77EF71}">
      <dgm:prSet/>
      <dgm:spPr/>
      <dgm:t>
        <a:bodyPr/>
        <a:lstStyle/>
        <a:p>
          <a:endParaRPr lang="en-GB"/>
        </a:p>
      </dgm:t>
    </dgm:pt>
    <dgm:pt modelId="{2F10091A-4C5A-214D-9083-ED42CD515DCC}">
      <dgm:prSet phldrT="[Text]"/>
      <dgm:spPr/>
      <dgm:t>
        <a:bodyPr/>
        <a:lstStyle/>
        <a:p>
          <a:r>
            <a:rPr lang="en-SG"/>
            <a:t>Introduced regularization parameter C</a:t>
          </a:r>
          <a:endParaRPr lang="en-GB" dirty="0"/>
        </a:p>
      </dgm:t>
    </dgm:pt>
    <dgm:pt modelId="{E84D17E4-B82D-8349-A165-7FD7DD59B770}" type="parTrans" cxnId="{AB7F47FE-867B-964F-A494-14ACFCF2A5BB}">
      <dgm:prSet/>
      <dgm:spPr/>
      <dgm:t>
        <a:bodyPr/>
        <a:lstStyle/>
        <a:p>
          <a:endParaRPr lang="en-GB"/>
        </a:p>
      </dgm:t>
    </dgm:pt>
    <dgm:pt modelId="{8416BF6A-D8B4-314C-B682-17B13843AAC4}" type="sibTrans" cxnId="{AB7F47FE-867B-964F-A494-14ACFCF2A5BB}">
      <dgm:prSet/>
      <dgm:spPr/>
      <dgm:t>
        <a:bodyPr/>
        <a:lstStyle/>
        <a:p>
          <a:endParaRPr lang="en-GB"/>
        </a:p>
      </dgm:t>
    </dgm:pt>
    <dgm:pt modelId="{0F492835-7102-A84E-BD3C-4FE31E3CD00A}">
      <dgm:prSet phldrT="[Text]" custT="1"/>
      <dgm:spPr/>
      <dgm:t>
        <a:bodyPr/>
        <a:lstStyle/>
        <a:p>
          <a:r>
            <a:rPr lang="en-SG" sz="2000" b="1" dirty="0"/>
            <a:t>Best Accuracy: 82.3%</a:t>
          </a:r>
          <a:endParaRPr lang="en-GB" sz="2000" b="1" dirty="0"/>
        </a:p>
      </dgm:t>
    </dgm:pt>
    <dgm:pt modelId="{22943314-A39D-1C4C-A9C5-3E1407F69BC5}" type="parTrans" cxnId="{86CEA681-D9FE-1649-A3EA-32DF6F5DB1FF}">
      <dgm:prSet/>
      <dgm:spPr/>
      <dgm:t>
        <a:bodyPr/>
        <a:lstStyle/>
        <a:p>
          <a:endParaRPr lang="en-GB"/>
        </a:p>
      </dgm:t>
    </dgm:pt>
    <dgm:pt modelId="{279A7F8B-9520-E147-8E61-C5012361FEAF}" type="sibTrans" cxnId="{86CEA681-D9FE-1649-A3EA-32DF6F5DB1FF}">
      <dgm:prSet/>
      <dgm:spPr/>
      <dgm:t>
        <a:bodyPr/>
        <a:lstStyle/>
        <a:p>
          <a:endParaRPr lang="en-GB"/>
        </a:p>
      </dgm:t>
    </dgm:pt>
    <dgm:pt modelId="{9D7E430D-AB4B-B445-AE85-302E57CF8AAB}" type="pres">
      <dgm:prSet presAssocID="{B425FD00-07D6-B645-80B6-F303C416A430}" presName="Name0" presStyleCnt="0">
        <dgm:presLayoutVars>
          <dgm:chMax val="4"/>
          <dgm:resizeHandles val="exact"/>
        </dgm:presLayoutVars>
      </dgm:prSet>
      <dgm:spPr/>
    </dgm:pt>
    <dgm:pt modelId="{F43FBFA2-725F-664B-BE9E-4BD5A76122BE}" type="pres">
      <dgm:prSet presAssocID="{B425FD00-07D6-B645-80B6-F303C416A430}" presName="ellipse" presStyleLbl="trBgShp" presStyleIdx="0" presStyleCnt="1"/>
      <dgm:spPr/>
    </dgm:pt>
    <dgm:pt modelId="{2447E58D-F838-0244-9D59-14FD2F0808D0}" type="pres">
      <dgm:prSet presAssocID="{B425FD00-07D6-B645-80B6-F303C416A430}" presName="arrow1" presStyleLbl="fgShp" presStyleIdx="0" presStyleCnt="1"/>
      <dgm:spPr/>
    </dgm:pt>
    <dgm:pt modelId="{1DCCD3CB-7DDD-544E-BC72-A749E8133615}" type="pres">
      <dgm:prSet presAssocID="{B425FD00-07D6-B645-80B6-F303C416A430}" presName="rectangle" presStyleLbl="revTx" presStyleIdx="0" presStyleCnt="1">
        <dgm:presLayoutVars>
          <dgm:bulletEnabled val="1"/>
        </dgm:presLayoutVars>
      </dgm:prSet>
      <dgm:spPr/>
    </dgm:pt>
    <dgm:pt modelId="{F4D5EDD5-ED63-5647-A731-A68989A7DADF}" type="pres">
      <dgm:prSet presAssocID="{53C78744-22DA-6C43-B1DA-8E65F4A58394}" presName="item1" presStyleLbl="node1" presStyleIdx="0" presStyleCnt="3">
        <dgm:presLayoutVars>
          <dgm:bulletEnabled val="1"/>
        </dgm:presLayoutVars>
      </dgm:prSet>
      <dgm:spPr/>
    </dgm:pt>
    <dgm:pt modelId="{1F2A5579-3986-4647-8723-05ECF0966D00}" type="pres">
      <dgm:prSet presAssocID="{2F10091A-4C5A-214D-9083-ED42CD515DCC}" presName="item2" presStyleLbl="node1" presStyleIdx="1" presStyleCnt="3">
        <dgm:presLayoutVars>
          <dgm:bulletEnabled val="1"/>
        </dgm:presLayoutVars>
      </dgm:prSet>
      <dgm:spPr/>
    </dgm:pt>
    <dgm:pt modelId="{3E9647F0-4060-3E42-8D7B-2EC2CFF30AB1}" type="pres">
      <dgm:prSet presAssocID="{0F492835-7102-A84E-BD3C-4FE31E3CD00A}" presName="item3" presStyleLbl="node1" presStyleIdx="2" presStyleCnt="3">
        <dgm:presLayoutVars>
          <dgm:bulletEnabled val="1"/>
        </dgm:presLayoutVars>
      </dgm:prSet>
      <dgm:spPr/>
    </dgm:pt>
    <dgm:pt modelId="{DB5EF7D6-BB62-B149-B707-7AFCDEBFD95C}" type="pres">
      <dgm:prSet presAssocID="{B425FD00-07D6-B645-80B6-F303C416A430}" presName="funnel" presStyleLbl="trAlignAcc1" presStyleIdx="0" presStyleCnt="1"/>
      <dgm:spPr/>
    </dgm:pt>
  </dgm:ptLst>
  <dgm:cxnLst>
    <dgm:cxn modelId="{FE6B6108-53A1-4146-B56B-D890E872AEE9}" type="presOf" srcId="{0F492835-7102-A84E-BD3C-4FE31E3CD00A}" destId="{1DCCD3CB-7DDD-544E-BC72-A749E8133615}" srcOrd="0" destOrd="0" presId="urn:microsoft.com/office/officeart/2005/8/layout/funnel1"/>
    <dgm:cxn modelId="{B22D240F-246A-9243-83ED-BC4E7446C22E}" type="presOf" srcId="{4A0E1066-FABA-FA49-818A-EC3109D3E8D3}" destId="{3E9647F0-4060-3E42-8D7B-2EC2CFF30AB1}" srcOrd="0" destOrd="0" presId="urn:microsoft.com/office/officeart/2005/8/layout/funnel1"/>
    <dgm:cxn modelId="{2A006229-7CC6-E04F-83B9-5245AEFEEB51}" type="presOf" srcId="{2F10091A-4C5A-214D-9083-ED42CD515DCC}" destId="{F4D5EDD5-ED63-5647-A731-A68989A7DADF}" srcOrd="0" destOrd="0" presId="urn:microsoft.com/office/officeart/2005/8/layout/funnel1"/>
    <dgm:cxn modelId="{1854552B-CEAE-8E40-ABE4-7B200AE5AABD}" type="presOf" srcId="{B425FD00-07D6-B645-80B6-F303C416A430}" destId="{9D7E430D-AB4B-B445-AE85-302E57CF8AAB}" srcOrd="0" destOrd="0" presId="urn:microsoft.com/office/officeart/2005/8/layout/funnel1"/>
    <dgm:cxn modelId="{D141DC71-01BD-4140-AE42-1AAB30737453}" srcId="{B425FD00-07D6-B645-80B6-F303C416A430}" destId="{4A0E1066-FABA-FA49-818A-EC3109D3E8D3}" srcOrd="0" destOrd="0" parTransId="{C7AC012E-5CA4-8548-9DD8-3BADAD26283C}" sibTransId="{B819EBD2-5F34-4942-92EA-10732F04AC60}"/>
    <dgm:cxn modelId="{5C78D17E-92D7-8E42-9D8A-BBBFD25F399E}" type="presOf" srcId="{53C78744-22DA-6C43-B1DA-8E65F4A58394}" destId="{1F2A5579-3986-4647-8723-05ECF0966D00}" srcOrd="0" destOrd="0" presId="urn:microsoft.com/office/officeart/2005/8/layout/funnel1"/>
    <dgm:cxn modelId="{86CEA681-D9FE-1649-A3EA-32DF6F5DB1FF}" srcId="{B425FD00-07D6-B645-80B6-F303C416A430}" destId="{0F492835-7102-A84E-BD3C-4FE31E3CD00A}" srcOrd="3" destOrd="0" parTransId="{22943314-A39D-1C4C-A9C5-3E1407F69BC5}" sibTransId="{279A7F8B-9520-E147-8E61-C5012361FEAF}"/>
    <dgm:cxn modelId="{425382DF-5A03-D946-B32C-5D056E77EF71}" srcId="{B425FD00-07D6-B645-80B6-F303C416A430}" destId="{53C78744-22DA-6C43-B1DA-8E65F4A58394}" srcOrd="1" destOrd="0" parTransId="{163A82DA-5D48-954D-ADCD-942831EB93C0}" sibTransId="{BC9B426F-5689-DB45-AA42-5B22CD9A29FA}"/>
    <dgm:cxn modelId="{AB7F47FE-867B-964F-A494-14ACFCF2A5BB}" srcId="{B425FD00-07D6-B645-80B6-F303C416A430}" destId="{2F10091A-4C5A-214D-9083-ED42CD515DCC}" srcOrd="2" destOrd="0" parTransId="{E84D17E4-B82D-8349-A165-7FD7DD59B770}" sibTransId="{8416BF6A-D8B4-314C-B682-17B13843AAC4}"/>
    <dgm:cxn modelId="{2BDA0C6F-9774-7A41-B496-AAFDF5513EB9}" type="presParOf" srcId="{9D7E430D-AB4B-B445-AE85-302E57CF8AAB}" destId="{F43FBFA2-725F-664B-BE9E-4BD5A76122BE}" srcOrd="0" destOrd="0" presId="urn:microsoft.com/office/officeart/2005/8/layout/funnel1"/>
    <dgm:cxn modelId="{F62BE1EC-BE97-E149-8CDF-2011E628CEDE}" type="presParOf" srcId="{9D7E430D-AB4B-B445-AE85-302E57CF8AAB}" destId="{2447E58D-F838-0244-9D59-14FD2F0808D0}" srcOrd="1" destOrd="0" presId="urn:microsoft.com/office/officeart/2005/8/layout/funnel1"/>
    <dgm:cxn modelId="{A604A44E-92C5-2A4C-A95F-44748F0F1BBE}" type="presParOf" srcId="{9D7E430D-AB4B-B445-AE85-302E57CF8AAB}" destId="{1DCCD3CB-7DDD-544E-BC72-A749E8133615}" srcOrd="2" destOrd="0" presId="urn:microsoft.com/office/officeart/2005/8/layout/funnel1"/>
    <dgm:cxn modelId="{AB474819-4254-8A4E-8B16-92B345791761}" type="presParOf" srcId="{9D7E430D-AB4B-B445-AE85-302E57CF8AAB}" destId="{F4D5EDD5-ED63-5647-A731-A68989A7DADF}" srcOrd="3" destOrd="0" presId="urn:microsoft.com/office/officeart/2005/8/layout/funnel1"/>
    <dgm:cxn modelId="{537A5458-94DA-DE4B-A6A3-30019AE3BBEF}" type="presParOf" srcId="{9D7E430D-AB4B-B445-AE85-302E57CF8AAB}" destId="{1F2A5579-3986-4647-8723-05ECF0966D00}" srcOrd="4" destOrd="0" presId="urn:microsoft.com/office/officeart/2005/8/layout/funnel1"/>
    <dgm:cxn modelId="{7FF30709-30E7-D646-8D06-7653E7408125}" type="presParOf" srcId="{9D7E430D-AB4B-B445-AE85-302E57CF8AAB}" destId="{3E9647F0-4060-3E42-8D7B-2EC2CFF30AB1}" srcOrd="5" destOrd="0" presId="urn:microsoft.com/office/officeart/2005/8/layout/funnel1"/>
    <dgm:cxn modelId="{45EF01B3-044B-5048-8145-01617C5F5CC6}" type="presParOf" srcId="{9D7E430D-AB4B-B445-AE85-302E57CF8AAB}" destId="{DB5EF7D6-BB62-B149-B707-7AFCDEBFD95C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6E940-EC95-6B4B-A0B3-C49610757FA5}">
      <dsp:nvSpPr>
        <dsp:cNvPr id="0" name=""/>
        <dsp:cNvSpPr/>
      </dsp:nvSpPr>
      <dsp:spPr>
        <a:xfrm>
          <a:off x="3055" y="1213093"/>
          <a:ext cx="1837531" cy="7147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Logic Regression</a:t>
          </a:r>
        </a:p>
      </dsp:txBody>
      <dsp:txXfrm>
        <a:off x="3055" y="1213093"/>
        <a:ext cx="1837531" cy="714705"/>
      </dsp:txXfrm>
    </dsp:sp>
    <dsp:sp modelId="{BD4C8CAD-05B2-264B-BBF0-01B54C277452}">
      <dsp:nvSpPr>
        <dsp:cNvPr id="0" name=""/>
        <dsp:cNvSpPr/>
      </dsp:nvSpPr>
      <dsp:spPr>
        <a:xfrm>
          <a:off x="3055" y="1927798"/>
          <a:ext cx="1837531" cy="10623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Supervised machine learning algorithm for binary classification</a:t>
          </a:r>
        </a:p>
      </dsp:txBody>
      <dsp:txXfrm>
        <a:off x="3055" y="1927798"/>
        <a:ext cx="1837531" cy="1062315"/>
      </dsp:txXfrm>
    </dsp:sp>
    <dsp:sp modelId="{6EDC6581-0DAD-064C-8E9F-0AA7A26CB209}">
      <dsp:nvSpPr>
        <dsp:cNvPr id="0" name=""/>
        <dsp:cNvSpPr/>
      </dsp:nvSpPr>
      <dsp:spPr>
        <a:xfrm>
          <a:off x="2097841" y="1213093"/>
          <a:ext cx="1837531" cy="7147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RNN</a:t>
          </a:r>
        </a:p>
      </dsp:txBody>
      <dsp:txXfrm>
        <a:off x="2097841" y="1213093"/>
        <a:ext cx="1837531" cy="714705"/>
      </dsp:txXfrm>
    </dsp:sp>
    <dsp:sp modelId="{4AB875E3-0F8F-D94E-A7F3-DF8796D91503}">
      <dsp:nvSpPr>
        <dsp:cNvPr id="0" name=""/>
        <dsp:cNvSpPr/>
      </dsp:nvSpPr>
      <dsp:spPr>
        <a:xfrm>
          <a:off x="2097841" y="1927798"/>
          <a:ext cx="1837531" cy="10623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Process sequential data by learning temporal dependencies</a:t>
          </a:r>
        </a:p>
      </dsp:txBody>
      <dsp:txXfrm>
        <a:off x="2097841" y="1927798"/>
        <a:ext cx="1837531" cy="1062315"/>
      </dsp:txXfrm>
    </dsp:sp>
    <dsp:sp modelId="{A65F4611-65D4-854A-A28E-C1696A2756CA}">
      <dsp:nvSpPr>
        <dsp:cNvPr id="0" name=""/>
        <dsp:cNvSpPr/>
      </dsp:nvSpPr>
      <dsp:spPr>
        <a:xfrm>
          <a:off x="4192627" y="1213093"/>
          <a:ext cx="1837531" cy="7147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CNN</a:t>
          </a:r>
        </a:p>
      </dsp:txBody>
      <dsp:txXfrm>
        <a:off x="4192627" y="1213093"/>
        <a:ext cx="1837531" cy="714705"/>
      </dsp:txXfrm>
    </dsp:sp>
    <dsp:sp modelId="{6813F311-2C92-CF44-A5FB-3D98C9B9A3CF}">
      <dsp:nvSpPr>
        <dsp:cNvPr id="0" name=""/>
        <dsp:cNvSpPr/>
      </dsp:nvSpPr>
      <dsp:spPr>
        <a:xfrm>
          <a:off x="4192627" y="1927798"/>
          <a:ext cx="1837531" cy="10623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Extracts local features from text, effective for NLP and sequential tasks</a:t>
          </a:r>
        </a:p>
      </dsp:txBody>
      <dsp:txXfrm>
        <a:off x="4192627" y="1927798"/>
        <a:ext cx="1837531" cy="1062315"/>
      </dsp:txXfrm>
    </dsp:sp>
    <dsp:sp modelId="{3FF8243D-ABA7-AC41-A78E-CFFD3C0F8125}">
      <dsp:nvSpPr>
        <dsp:cNvPr id="0" name=""/>
        <dsp:cNvSpPr/>
      </dsp:nvSpPr>
      <dsp:spPr>
        <a:xfrm>
          <a:off x="6287412" y="1213093"/>
          <a:ext cx="1837531" cy="7147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BERT</a:t>
          </a:r>
        </a:p>
      </dsp:txBody>
      <dsp:txXfrm>
        <a:off x="6287412" y="1213093"/>
        <a:ext cx="1837531" cy="714705"/>
      </dsp:txXfrm>
    </dsp:sp>
    <dsp:sp modelId="{13BFB0C5-49DE-5347-99DC-7E683BC58ACA}">
      <dsp:nvSpPr>
        <dsp:cNvPr id="0" name=""/>
        <dsp:cNvSpPr/>
      </dsp:nvSpPr>
      <dsp:spPr>
        <a:xfrm>
          <a:off x="6287412" y="1927798"/>
          <a:ext cx="1837531" cy="10623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Captures bidirectional context for robust NLP Tasks</a:t>
          </a:r>
        </a:p>
      </dsp:txBody>
      <dsp:txXfrm>
        <a:off x="6287412" y="1927798"/>
        <a:ext cx="1837531" cy="1062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FBFA2-725F-664B-BE9E-4BD5A76122BE}">
      <dsp:nvSpPr>
        <dsp:cNvPr id="0" name=""/>
        <dsp:cNvSpPr/>
      </dsp:nvSpPr>
      <dsp:spPr>
        <a:xfrm>
          <a:off x="1872826" y="220133"/>
          <a:ext cx="4368800" cy="151722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7E58D-F838-0244-9D59-14FD2F0808D0}">
      <dsp:nvSpPr>
        <dsp:cNvPr id="0" name=""/>
        <dsp:cNvSpPr/>
      </dsp:nvSpPr>
      <dsp:spPr>
        <a:xfrm>
          <a:off x="3640666" y="3935306"/>
          <a:ext cx="846666" cy="541866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CD3CB-7DDD-544E-BC72-A749E8133615}">
      <dsp:nvSpPr>
        <dsp:cNvPr id="0" name=""/>
        <dsp:cNvSpPr/>
      </dsp:nvSpPr>
      <dsp:spPr>
        <a:xfrm>
          <a:off x="2031999" y="4368800"/>
          <a:ext cx="406400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Best Accuracy: 82.3%</a:t>
          </a:r>
          <a:endParaRPr lang="en-GB" sz="2000" b="1" kern="1200" dirty="0"/>
        </a:p>
      </dsp:txBody>
      <dsp:txXfrm>
        <a:off x="2031999" y="4368800"/>
        <a:ext cx="4064000" cy="1016000"/>
      </dsp:txXfrm>
    </dsp:sp>
    <dsp:sp modelId="{F4D5EDD5-ED63-5647-A731-A68989A7DADF}">
      <dsp:nvSpPr>
        <dsp:cNvPr id="0" name=""/>
        <dsp:cNvSpPr/>
      </dsp:nvSpPr>
      <dsp:spPr>
        <a:xfrm>
          <a:off x="3461173" y="1854538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kern="1200"/>
            <a:t>Introduced regularization parameter C</a:t>
          </a:r>
          <a:endParaRPr lang="en-GB" sz="1300" kern="1200" dirty="0"/>
        </a:p>
      </dsp:txBody>
      <dsp:txXfrm>
        <a:off x="3684358" y="2077723"/>
        <a:ext cx="1077630" cy="1077630"/>
      </dsp:txXfrm>
    </dsp:sp>
    <dsp:sp modelId="{1F2A5579-3986-4647-8723-05ECF0966D00}">
      <dsp:nvSpPr>
        <dsp:cNvPr id="0" name=""/>
        <dsp:cNvSpPr/>
      </dsp:nvSpPr>
      <dsp:spPr>
        <a:xfrm>
          <a:off x="2370666" y="711200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kern="1200" dirty="0"/>
            <a:t>Started with Naive Bayes for quick prototyping</a:t>
          </a:r>
          <a:endParaRPr lang="en-GB" sz="1300" kern="1200" dirty="0"/>
        </a:p>
      </dsp:txBody>
      <dsp:txXfrm>
        <a:off x="2593851" y="934385"/>
        <a:ext cx="1077630" cy="1077630"/>
      </dsp:txXfrm>
    </dsp:sp>
    <dsp:sp modelId="{3E9647F0-4060-3E42-8D7B-2EC2CFF30AB1}">
      <dsp:nvSpPr>
        <dsp:cNvPr id="0" name=""/>
        <dsp:cNvSpPr/>
      </dsp:nvSpPr>
      <dsp:spPr>
        <a:xfrm>
          <a:off x="3928533" y="342730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kern="1200" dirty="0"/>
            <a:t>Switched to Logistic Regression with TF-IDF</a:t>
          </a:r>
          <a:endParaRPr lang="en-GB" sz="1300" kern="1200" dirty="0"/>
        </a:p>
      </dsp:txBody>
      <dsp:txXfrm>
        <a:off x="4151718" y="565915"/>
        <a:ext cx="1077630" cy="1077630"/>
      </dsp:txXfrm>
    </dsp:sp>
    <dsp:sp modelId="{DB5EF7D6-BB62-B149-B707-7AFCDEBFD95C}">
      <dsp:nvSpPr>
        <dsp:cNvPr id="0" name=""/>
        <dsp:cNvSpPr/>
      </dsp:nvSpPr>
      <dsp:spPr>
        <a:xfrm>
          <a:off x="1693333" y="33866"/>
          <a:ext cx="4741333" cy="379306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55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48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C5EB820E-1C99-37E6-8455-6B8582409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35DD-65AC-0F04-359F-6F973932C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63776B-4D51-7B38-70E1-4E817A360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0713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948F-9A5F-8BC3-7401-F31713C4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0C6908-0093-2C07-E103-D8F134E3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910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C8F6-7831-2E10-5497-4335FC42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EC4B5BC-8597-542B-CF3D-ED90984DA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477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7A69-211D-C97F-308D-9F2359AA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23A1B5-4AC4-7774-AA9E-5CA29A8A8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1801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314608" flipH="1" flipV="1">
            <a:off x="-2298026" y="-1812772"/>
            <a:ext cx="5603911" cy="4275027"/>
          </a:xfrm>
          <a:custGeom>
            <a:avLst/>
            <a:gdLst>
              <a:gd name="connsiteX0" fmla="*/ 28347 w 5603911"/>
              <a:gd name="connsiteY0" fmla="*/ 4073156 h 4275027"/>
              <a:gd name="connsiteX1" fmla="*/ 2108497 w 5603911"/>
              <a:gd name="connsiteY1" fmla="*/ 2044791 h 4275027"/>
              <a:gd name="connsiteX2" fmla="*/ 2761388 w 5603911"/>
              <a:gd name="connsiteY2" fmla="*/ 20768 h 4275027"/>
              <a:gd name="connsiteX3" fmla="*/ 4865959 w 5603911"/>
              <a:gd name="connsiteY3" fmla="*/ 1065796 h 4275027"/>
              <a:gd name="connsiteX4" fmla="*/ 4764359 w 5603911"/>
              <a:gd name="connsiteY4" fmla="*/ 2226939 h 4275027"/>
              <a:gd name="connsiteX5" fmla="*/ 5490073 w 5603911"/>
              <a:gd name="connsiteY5" fmla="*/ 2952653 h 4275027"/>
              <a:gd name="connsiteX6" fmla="*/ 5127216 w 5603911"/>
              <a:gd name="connsiteY6" fmla="*/ 3997682 h 4275027"/>
              <a:gd name="connsiteX7" fmla="*/ 1135788 w 5603911"/>
              <a:gd name="connsiteY7" fmla="*/ 4186368 h 4275027"/>
              <a:gd name="connsiteX8" fmla="*/ 28347 w 5603911"/>
              <a:gd name="connsiteY8" fmla="*/ 4073156 h 4275027"/>
            </a:gdLst>
            <a:ahLst/>
            <a:cxnLst/>
            <a:rect l="l" t="t" r="r" b="b"/>
            <a:pathLst>
              <a:path w="5603911" h="4275027">
                <a:moveTo>
                  <a:pt x="28347" y="4073156"/>
                </a:moveTo>
                <a:cubicBezTo>
                  <a:pt x="403299" y="2372565"/>
                  <a:pt x="1652990" y="2720189"/>
                  <a:pt x="2108497" y="2044791"/>
                </a:cubicBezTo>
                <a:cubicBezTo>
                  <a:pt x="2564004" y="1369393"/>
                  <a:pt x="2301811" y="183934"/>
                  <a:pt x="2761388" y="20768"/>
                </a:cubicBezTo>
                <a:cubicBezTo>
                  <a:pt x="3220965" y="-142398"/>
                  <a:pt x="4532131" y="698101"/>
                  <a:pt x="4865959" y="1065796"/>
                </a:cubicBezTo>
                <a:cubicBezTo>
                  <a:pt x="5199788" y="1433491"/>
                  <a:pt x="4660340" y="1912463"/>
                  <a:pt x="4764359" y="2226939"/>
                </a:cubicBezTo>
                <a:cubicBezTo>
                  <a:pt x="4868378" y="2541415"/>
                  <a:pt x="5429597" y="2657529"/>
                  <a:pt x="5490073" y="2952653"/>
                </a:cubicBezTo>
                <a:cubicBezTo>
                  <a:pt x="5550549" y="3247777"/>
                  <a:pt x="5852930" y="3792063"/>
                  <a:pt x="5127216" y="3997682"/>
                </a:cubicBezTo>
                <a:cubicBezTo>
                  <a:pt x="4401502" y="4203301"/>
                  <a:pt x="1985599" y="4173789"/>
                  <a:pt x="1135788" y="4186368"/>
                </a:cubicBezTo>
                <a:cubicBezTo>
                  <a:pt x="285977" y="4198947"/>
                  <a:pt x="-114377" y="4438432"/>
                  <a:pt x="28347" y="4073156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986024" y="1130300"/>
            <a:ext cx="9065752" cy="6913800"/>
          </a:xfrm>
          <a:custGeom>
            <a:avLst/>
            <a:gdLst>
              <a:gd name="connsiteX0" fmla="*/ 28347 w 5603911"/>
              <a:gd name="connsiteY0" fmla="*/ 4071831 h 4273702"/>
              <a:gd name="connsiteX1" fmla="*/ 1743937 w 5603911"/>
              <a:gd name="connsiteY1" fmla="*/ 2006449 h 4273702"/>
              <a:gd name="connsiteX2" fmla="*/ 2761388 w 5603911"/>
              <a:gd name="connsiteY2" fmla="*/ 19443 h 4273702"/>
              <a:gd name="connsiteX3" fmla="*/ 4865959 w 5603911"/>
              <a:gd name="connsiteY3" fmla="*/ 1064471 h 4273702"/>
              <a:gd name="connsiteX4" fmla="*/ 4764359 w 5603911"/>
              <a:gd name="connsiteY4" fmla="*/ 2225614 h 4273702"/>
              <a:gd name="connsiteX5" fmla="*/ 5490073 w 5603911"/>
              <a:gd name="connsiteY5" fmla="*/ 2951328 h 4273702"/>
              <a:gd name="connsiteX6" fmla="*/ 5127216 w 5603911"/>
              <a:gd name="connsiteY6" fmla="*/ 3996357 h 4273702"/>
              <a:gd name="connsiteX7" fmla="*/ 1135788 w 5603911"/>
              <a:gd name="connsiteY7" fmla="*/ 4185043 h 4273702"/>
              <a:gd name="connsiteX8" fmla="*/ 28347 w 5603911"/>
              <a:gd name="connsiteY8" fmla="*/ 4071831 h 4273702"/>
            </a:gdLst>
            <a:ahLst/>
            <a:cxnLst/>
            <a:rect l="l" t="t" r="r" b="b"/>
            <a:pathLst>
              <a:path w="5603911" h="4273702">
                <a:moveTo>
                  <a:pt x="28347" y="4071831"/>
                </a:moveTo>
                <a:cubicBezTo>
                  <a:pt x="403299" y="2371240"/>
                  <a:pt x="1288430" y="2681847"/>
                  <a:pt x="1743937" y="2006449"/>
                </a:cubicBezTo>
                <a:cubicBezTo>
                  <a:pt x="2199444" y="1331051"/>
                  <a:pt x="2241051" y="176439"/>
                  <a:pt x="2761388" y="19443"/>
                </a:cubicBezTo>
                <a:cubicBezTo>
                  <a:pt x="3281725" y="-137553"/>
                  <a:pt x="4532131" y="696776"/>
                  <a:pt x="4865959" y="1064471"/>
                </a:cubicBezTo>
                <a:cubicBezTo>
                  <a:pt x="5199788" y="1432166"/>
                  <a:pt x="4660340" y="1911138"/>
                  <a:pt x="4764359" y="2225614"/>
                </a:cubicBezTo>
                <a:cubicBezTo>
                  <a:pt x="4868378" y="2540090"/>
                  <a:pt x="5429597" y="2656204"/>
                  <a:pt x="5490073" y="2951328"/>
                </a:cubicBezTo>
                <a:cubicBezTo>
                  <a:pt x="5550549" y="3246452"/>
                  <a:pt x="5852930" y="3790738"/>
                  <a:pt x="5127216" y="3996357"/>
                </a:cubicBezTo>
                <a:cubicBezTo>
                  <a:pt x="4401502" y="4201976"/>
                  <a:pt x="1985599" y="4172464"/>
                  <a:pt x="1135788" y="4185043"/>
                </a:cubicBezTo>
                <a:cubicBezTo>
                  <a:pt x="285977" y="4197622"/>
                  <a:pt x="-114377" y="4437107"/>
                  <a:pt x="28347" y="407183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6724" y="766916"/>
            <a:ext cx="10878552" cy="5367184"/>
          </a:xfrm>
          <a:prstGeom prst="roundRect">
            <a:avLst>
              <a:gd name="adj" fmla="val 4751"/>
            </a:avLst>
          </a:prstGeom>
          <a:solidFill>
            <a:schemeClr val="bg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8795937" flipV="1">
            <a:off x="697676" y="4552977"/>
            <a:ext cx="1945031" cy="2297530"/>
          </a:xfrm>
          <a:custGeom>
            <a:avLst/>
            <a:gdLst>
              <a:gd name="connsiteX0" fmla="*/ 1416699 w 1945031"/>
              <a:gd name="connsiteY0" fmla="*/ 0 h 2297530"/>
              <a:gd name="connsiteX1" fmla="*/ 1361827 w 1945031"/>
              <a:gd name="connsiteY1" fmla="*/ 50273 h 2297530"/>
              <a:gd name="connsiteX2" fmla="*/ 1008262 w 1945031"/>
              <a:gd name="connsiteY2" fmla="*/ 1046675 h 2297530"/>
              <a:gd name="connsiteX3" fmla="*/ 10296 w 1945031"/>
              <a:gd name="connsiteY3" fmla="*/ 2248118 h 2297530"/>
              <a:gd name="connsiteX4" fmla="*/ 0 w 1945031"/>
              <a:gd name="connsiteY4" fmla="*/ 2297530 h 2297530"/>
              <a:gd name="connsiteX5" fmla="*/ 1830382 w 1945031"/>
              <a:gd name="connsiteY5" fmla="*/ 1090567 h 2297530"/>
              <a:gd name="connsiteX6" fmla="*/ 1902887 w 1945031"/>
              <a:gd name="connsiteY6" fmla="*/ 737314 h 2297530"/>
            </a:gdLst>
            <a:ahLst/>
            <a:cxnLst/>
            <a:rect l="l" t="t" r="r" b="b"/>
            <a:pathLst>
              <a:path w="1945031" h="2297530">
                <a:moveTo>
                  <a:pt x="1416699" y="0"/>
                </a:moveTo>
                <a:lnTo>
                  <a:pt x="1361827" y="50273"/>
                </a:lnTo>
                <a:cubicBezTo>
                  <a:pt x="1126997" y="302966"/>
                  <a:pt x="1299173" y="649343"/>
                  <a:pt x="1008262" y="1046675"/>
                </a:cubicBezTo>
                <a:cubicBezTo>
                  <a:pt x="650219" y="1535700"/>
                  <a:pt x="228407" y="1258876"/>
                  <a:pt x="10296" y="2248118"/>
                </a:cubicBezTo>
                <a:lnTo>
                  <a:pt x="0" y="2297530"/>
                </a:lnTo>
                <a:lnTo>
                  <a:pt x="1830382" y="1090567"/>
                </a:lnTo>
                <a:cubicBezTo>
                  <a:pt x="1947952" y="1013041"/>
                  <a:pt x="1980414" y="854884"/>
                  <a:pt x="1902887" y="7373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426495" y="5834743"/>
            <a:ext cx="579248" cy="579248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206706" y="4894274"/>
            <a:ext cx="124073" cy="85931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280550" y="4792073"/>
            <a:ext cx="733943" cy="296404"/>
          </a:xfrm>
          <a:prstGeom prst="roundRect">
            <a:avLst>
              <a:gd name="adj" fmla="val 0"/>
            </a:avLst>
          </a:prstGeom>
          <a:noFill/>
          <a:ln w="381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AiPPT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264289" y="4792073"/>
            <a:ext cx="733943" cy="296404"/>
          </a:xfrm>
          <a:prstGeom prst="roundRect">
            <a:avLst>
              <a:gd name="adj" fmla="val 0"/>
            </a:avLst>
          </a:prstGeom>
          <a:noFill/>
          <a:ln w="381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202X.X</a:t>
            </a:r>
            <a:endParaRPr kumimoji="1" lang="zh-CN" altLang="en-US" dirty="0"/>
          </a:p>
        </p:txBody>
      </p:sp>
      <p:sp>
        <p:nvSpPr>
          <p:cNvPr id="19" name="标题 1"/>
          <p:cNvSpPr txBox="1"/>
          <p:nvPr/>
        </p:nvSpPr>
        <p:spPr>
          <a:xfrm>
            <a:off x="3171877" y="522514"/>
            <a:ext cx="488804" cy="488804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94501" y="3295111"/>
            <a:ext cx="5328000" cy="2380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147809" y="2125774"/>
            <a:ext cx="5338048" cy="15633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6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Sentiment Analysis Model Based on Twitter Comments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9638427" y="1457940"/>
            <a:ext cx="436823" cy="436823"/>
          </a:xfrm>
          <a:prstGeom prst="roundRect">
            <a:avLst>
              <a:gd name="adj" fmla="val 8027"/>
            </a:avLst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730342" y="1549855"/>
            <a:ext cx="252993" cy="252993"/>
          </a:xfrm>
          <a:custGeom>
            <a:avLst/>
            <a:gdLst>
              <a:gd name="connsiteX0" fmla="*/ 666750 w 1333500"/>
              <a:gd name="connsiteY0" fmla="*/ 0 h 1333500"/>
              <a:gd name="connsiteX1" fmla="*/ 0 w 1333500"/>
              <a:gd name="connsiteY1" fmla="*/ 666750 h 1333500"/>
              <a:gd name="connsiteX2" fmla="*/ 666750 w 1333500"/>
              <a:gd name="connsiteY2" fmla="*/ 1333500 h 1333500"/>
              <a:gd name="connsiteX3" fmla="*/ 1333500 w 1333500"/>
              <a:gd name="connsiteY3" fmla="*/ 666750 h 1333500"/>
              <a:gd name="connsiteX4" fmla="*/ 666750 w 1333500"/>
              <a:gd name="connsiteY4" fmla="*/ 0 h 1333500"/>
              <a:gd name="connsiteX5" fmla="*/ 1088517 w 1333500"/>
              <a:gd name="connsiteY5" fmla="*/ 965263 h 1333500"/>
              <a:gd name="connsiteX6" fmla="*/ 723900 w 1333500"/>
              <a:gd name="connsiteY6" fmla="*/ 754571 h 1333500"/>
              <a:gd name="connsiteX7" fmla="*/ 578732 w 1333500"/>
              <a:gd name="connsiteY7" fmla="*/ 724872 h 1333500"/>
              <a:gd name="connsiteX8" fmla="*/ 608432 w 1333500"/>
              <a:gd name="connsiteY8" fmla="*/ 579704 h 1333500"/>
              <a:gd name="connsiteX9" fmla="*/ 617125 w 1333500"/>
              <a:gd name="connsiteY9" fmla="*/ 574548 h 1333500"/>
              <a:gd name="connsiteX10" fmla="*/ 617125 w 1333500"/>
              <a:gd name="connsiteY10" fmla="*/ 332232 h 1333500"/>
              <a:gd name="connsiteX11" fmla="*/ 664750 w 1333500"/>
              <a:gd name="connsiteY11" fmla="*/ 284607 h 1333500"/>
              <a:gd name="connsiteX12" fmla="*/ 712375 w 1333500"/>
              <a:gd name="connsiteY12" fmla="*/ 332232 h 1333500"/>
              <a:gd name="connsiteX13" fmla="*/ 712375 w 1333500"/>
              <a:gd name="connsiteY13" fmla="*/ 572453 h 1333500"/>
              <a:gd name="connsiteX14" fmla="*/ 771525 w 1333500"/>
              <a:gd name="connsiteY14" fmla="*/ 666750 h 1333500"/>
              <a:gd name="connsiteX15" fmla="*/ 768287 w 1333500"/>
              <a:gd name="connsiteY15" fmla="*/ 692372 h 1333500"/>
              <a:gd name="connsiteX16" fmla="*/ 1126617 w 1333500"/>
              <a:gd name="connsiteY16" fmla="*/ 899255 h 1333500"/>
              <a:gd name="connsiteX17" fmla="*/ 1140571 w 1333500"/>
              <a:gd name="connsiteY17" fmla="*/ 951309 h 1333500"/>
              <a:gd name="connsiteX18" fmla="*/ 1088517 w 1333500"/>
              <a:gd name="connsiteY18" fmla="*/ 965263 h 1333500"/>
            </a:gdLst>
            <a:ahLst/>
            <a:cxnLst/>
            <a:rect l="l" t="t" r="r" b="b"/>
            <a:pathLst>
              <a:path w="1333500" h="1333500">
                <a:moveTo>
                  <a:pt x="666750" y="0"/>
                </a:moveTo>
                <a:cubicBezTo>
                  <a:pt x="298514" y="0"/>
                  <a:pt x="0" y="298514"/>
                  <a:pt x="0" y="666750"/>
                </a:cubicBezTo>
                <a:cubicBezTo>
                  <a:pt x="0" y="1034987"/>
                  <a:pt x="298514" y="1333500"/>
                  <a:pt x="666750" y="1333500"/>
                </a:cubicBezTo>
                <a:cubicBezTo>
                  <a:pt x="1034987" y="1333500"/>
                  <a:pt x="1333500" y="1034987"/>
                  <a:pt x="1333500" y="666750"/>
                </a:cubicBezTo>
                <a:cubicBezTo>
                  <a:pt x="1333500" y="298514"/>
                  <a:pt x="1034987" y="0"/>
                  <a:pt x="666750" y="0"/>
                </a:cubicBezTo>
                <a:close/>
                <a:moveTo>
                  <a:pt x="1088517" y="965263"/>
                </a:moveTo>
                <a:lnTo>
                  <a:pt x="723900" y="754571"/>
                </a:lnTo>
                <a:cubicBezTo>
                  <a:pt x="675612" y="786456"/>
                  <a:pt x="610618" y="773160"/>
                  <a:pt x="578732" y="724872"/>
                </a:cubicBezTo>
                <a:cubicBezTo>
                  <a:pt x="546847" y="676583"/>
                  <a:pt x="560144" y="611590"/>
                  <a:pt x="608432" y="579704"/>
                </a:cubicBezTo>
                <a:cubicBezTo>
                  <a:pt x="611245" y="577847"/>
                  <a:pt x="614146" y="576125"/>
                  <a:pt x="617125" y="574548"/>
                </a:cubicBezTo>
                <a:lnTo>
                  <a:pt x="617125" y="332232"/>
                </a:lnTo>
                <a:cubicBezTo>
                  <a:pt x="617125" y="305930"/>
                  <a:pt x="638447" y="284607"/>
                  <a:pt x="664750" y="284607"/>
                </a:cubicBezTo>
                <a:cubicBezTo>
                  <a:pt x="691052" y="284607"/>
                  <a:pt x="712375" y="305930"/>
                  <a:pt x="712375" y="332232"/>
                </a:cubicBezTo>
                <a:lnTo>
                  <a:pt x="712375" y="572453"/>
                </a:lnTo>
                <a:cubicBezTo>
                  <a:pt x="748539" y="589946"/>
                  <a:pt x="771516" y="626577"/>
                  <a:pt x="771525" y="666750"/>
                </a:cubicBezTo>
                <a:cubicBezTo>
                  <a:pt x="771475" y="675389"/>
                  <a:pt x="770388" y="683992"/>
                  <a:pt x="768287" y="692372"/>
                </a:cubicBezTo>
                <a:lnTo>
                  <a:pt x="1126617" y="899255"/>
                </a:lnTo>
                <a:cubicBezTo>
                  <a:pt x="1144848" y="909777"/>
                  <a:pt x="1151096" y="933081"/>
                  <a:pt x="1140571" y="951309"/>
                </a:cubicBezTo>
                <a:cubicBezTo>
                  <a:pt x="1130046" y="969540"/>
                  <a:pt x="1106748" y="975789"/>
                  <a:pt x="1088517" y="96526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0264226" y="1457940"/>
            <a:ext cx="436823" cy="436823"/>
          </a:xfrm>
          <a:prstGeom prst="roundRect">
            <a:avLst>
              <a:gd name="adj" fmla="val 8027"/>
            </a:avLst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0365551" y="1534195"/>
            <a:ext cx="234173" cy="284313"/>
          </a:xfrm>
          <a:custGeom>
            <a:avLst/>
            <a:gdLst>
              <a:gd name="connsiteX0" fmla="*/ 43795 w 1234305"/>
              <a:gd name="connsiteY0" fmla="*/ 603236 h 1498586"/>
              <a:gd name="connsiteX1" fmla="*/ 95420 w 1234305"/>
              <a:gd name="connsiteY1" fmla="*/ 646861 h 1498586"/>
              <a:gd name="connsiteX2" fmla="*/ 571429 w 1234305"/>
              <a:gd name="connsiteY2" fmla="*/ 1123130 h 1498586"/>
              <a:gd name="connsiteX3" fmla="*/ 1139170 w 1234305"/>
              <a:gd name="connsiteY3" fmla="*/ 647147 h 1498586"/>
              <a:gd name="connsiteX4" fmla="*/ 1186795 w 1234305"/>
              <a:gd name="connsiteY4" fmla="*/ 603522 h 1498586"/>
              <a:gd name="connsiteX5" fmla="*/ 1190681 w 1234305"/>
              <a:gd name="connsiteY5" fmla="*/ 603691 h 1498586"/>
              <a:gd name="connsiteX6" fmla="*/ 1234134 w 1234305"/>
              <a:gd name="connsiteY6" fmla="*/ 655148 h 1498586"/>
              <a:gd name="connsiteX7" fmla="*/ 674255 w 1234305"/>
              <a:gd name="connsiteY7" fmla="*/ 1219980 h 1498586"/>
              <a:gd name="connsiteX8" fmla="*/ 674255 w 1234305"/>
              <a:gd name="connsiteY8" fmla="*/ 1403336 h 1498586"/>
              <a:gd name="connsiteX9" fmla="*/ 950480 w 1234305"/>
              <a:gd name="connsiteY9" fmla="*/ 1403336 h 1498586"/>
              <a:gd name="connsiteX10" fmla="*/ 998105 w 1234305"/>
              <a:gd name="connsiteY10" fmla="*/ 1450961 h 1498586"/>
              <a:gd name="connsiteX11" fmla="*/ 950480 w 1234305"/>
              <a:gd name="connsiteY11" fmla="*/ 1498586 h 1498586"/>
              <a:gd name="connsiteX12" fmla="*/ 283730 w 1234305"/>
              <a:gd name="connsiteY12" fmla="*/ 1498586 h 1498586"/>
              <a:gd name="connsiteX13" fmla="*/ 236105 w 1234305"/>
              <a:gd name="connsiteY13" fmla="*/ 1450961 h 1498586"/>
              <a:gd name="connsiteX14" fmla="*/ 283730 w 1234305"/>
              <a:gd name="connsiteY14" fmla="*/ 1403336 h 1498586"/>
              <a:gd name="connsiteX15" fmla="*/ 559955 w 1234305"/>
              <a:gd name="connsiteY15" fmla="*/ 1403336 h 1498586"/>
              <a:gd name="connsiteX16" fmla="*/ 559955 w 1234305"/>
              <a:gd name="connsiteY16" fmla="*/ 1219695 h 1498586"/>
              <a:gd name="connsiteX17" fmla="*/ 170 w 1234305"/>
              <a:gd name="connsiteY17" fmla="*/ 654862 h 1498586"/>
              <a:gd name="connsiteX18" fmla="*/ 43795 w 1234305"/>
              <a:gd name="connsiteY18" fmla="*/ 603236 h 1498586"/>
              <a:gd name="connsiteX19" fmla="*/ 626634 w 1234305"/>
              <a:gd name="connsiteY19" fmla="*/ 0 h 1498586"/>
              <a:gd name="connsiteX20" fmla="*/ 986634 w 1234305"/>
              <a:gd name="connsiteY20" fmla="*/ 360000 h 1498586"/>
              <a:gd name="connsiteX21" fmla="*/ 986634 w 1234305"/>
              <a:gd name="connsiteY21" fmla="*/ 612000 h 1498586"/>
              <a:gd name="connsiteX22" fmla="*/ 626634 w 1234305"/>
              <a:gd name="connsiteY22" fmla="*/ 972000 h 1498586"/>
              <a:gd name="connsiteX23" fmla="*/ 266634 w 1234305"/>
              <a:gd name="connsiteY23" fmla="*/ 612000 h 1498586"/>
              <a:gd name="connsiteX24" fmla="*/ 266634 w 1234305"/>
              <a:gd name="connsiteY24" fmla="*/ 360000 h 1498586"/>
              <a:gd name="connsiteX25" fmla="*/ 626634 w 1234305"/>
              <a:gd name="connsiteY25" fmla="*/ 0 h 1498586"/>
            </a:gdLst>
            <a:ahLst/>
            <a:cxnLst/>
            <a:rect l="l" t="t" r="r" b="b"/>
            <a:pathLst>
              <a:path w="1234305" h="1498586">
                <a:moveTo>
                  <a:pt x="43795" y="603236"/>
                </a:moveTo>
                <a:cubicBezTo>
                  <a:pt x="70098" y="601027"/>
                  <a:pt x="93211" y="620559"/>
                  <a:pt x="95420" y="646861"/>
                </a:cubicBezTo>
                <a:cubicBezTo>
                  <a:pt x="117541" y="900072"/>
                  <a:pt x="318231" y="1100870"/>
                  <a:pt x="571429" y="1123130"/>
                </a:cubicBezTo>
                <a:cubicBezTo>
                  <a:pt x="859645" y="1148467"/>
                  <a:pt x="1113833" y="935364"/>
                  <a:pt x="1139170" y="647147"/>
                </a:cubicBezTo>
                <a:cubicBezTo>
                  <a:pt x="1141256" y="622418"/>
                  <a:pt x="1161982" y="603435"/>
                  <a:pt x="1186795" y="603522"/>
                </a:cubicBezTo>
                <a:cubicBezTo>
                  <a:pt x="1188090" y="603525"/>
                  <a:pt x="1189386" y="603581"/>
                  <a:pt x="1190681" y="603691"/>
                </a:cubicBezTo>
                <a:cubicBezTo>
                  <a:pt x="1216884" y="605900"/>
                  <a:pt x="1236344" y="628938"/>
                  <a:pt x="1234134" y="655148"/>
                </a:cubicBezTo>
                <a:cubicBezTo>
                  <a:pt x="1209093" y="954252"/>
                  <a:pt x="973121" y="1192301"/>
                  <a:pt x="674255" y="1219980"/>
                </a:cubicBezTo>
                <a:lnTo>
                  <a:pt x="674255" y="1403336"/>
                </a:lnTo>
                <a:lnTo>
                  <a:pt x="950480" y="1403336"/>
                </a:lnTo>
                <a:cubicBezTo>
                  <a:pt x="976778" y="1403336"/>
                  <a:pt x="998105" y="1424663"/>
                  <a:pt x="998105" y="1450961"/>
                </a:cubicBezTo>
                <a:cubicBezTo>
                  <a:pt x="998105" y="1477260"/>
                  <a:pt x="976778" y="1498586"/>
                  <a:pt x="950480" y="1498586"/>
                </a:cubicBezTo>
                <a:lnTo>
                  <a:pt x="283730" y="1498586"/>
                </a:lnTo>
                <a:cubicBezTo>
                  <a:pt x="257427" y="1498586"/>
                  <a:pt x="236105" y="1477260"/>
                  <a:pt x="236105" y="1450961"/>
                </a:cubicBezTo>
                <a:cubicBezTo>
                  <a:pt x="236105" y="1424663"/>
                  <a:pt x="257427" y="1403336"/>
                  <a:pt x="283730" y="1403336"/>
                </a:cubicBezTo>
                <a:lnTo>
                  <a:pt x="559955" y="1403336"/>
                </a:lnTo>
                <a:lnTo>
                  <a:pt x="559955" y="1219695"/>
                </a:lnTo>
                <a:cubicBezTo>
                  <a:pt x="261125" y="1191977"/>
                  <a:pt x="25205" y="953928"/>
                  <a:pt x="170" y="654862"/>
                </a:cubicBezTo>
                <a:cubicBezTo>
                  <a:pt x="-2039" y="628560"/>
                  <a:pt x="17492" y="605446"/>
                  <a:pt x="43795" y="603236"/>
                </a:cubicBezTo>
                <a:close/>
                <a:moveTo>
                  <a:pt x="626634" y="0"/>
                </a:moveTo>
                <a:cubicBezTo>
                  <a:pt x="825457" y="0"/>
                  <a:pt x="986634" y="161177"/>
                  <a:pt x="986634" y="360000"/>
                </a:cubicBezTo>
                <a:lnTo>
                  <a:pt x="986634" y="612000"/>
                </a:lnTo>
                <a:cubicBezTo>
                  <a:pt x="986634" y="810823"/>
                  <a:pt x="825457" y="972000"/>
                  <a:pt x="626634" y="972000"/>
                </a:cubicBezTo>
                <a:cubicBezTo>
                  <a:pt x="427811" y="972000"/>
                  <a:pt x="266634" y="810823"/>
                  <a:pt x="266634" y="612000"/>
                </a:cubicBezTo>
                <a:lnTo>
                  <a:pt x="266634" y="360000"/>
                </a:lnTo>
                <a:cubicBezTo>
                  <a:pt x="266634" y="161177"/>
                  <a:pt x="427811" y="0"/>
                  <a:pt x="626634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0890025" y="1457940"/>
            <a:ext cx="436823" cy="436823"/>
          </a:xfrm>
          <a:prstGeom prst="roundRect">
            <a:avLst>
              <a:gd name="adj" fmla="val 8027"/>
            </a:avLst>
          </a:prstGeom>
          <a:solidFill>
            <a:schemeClr val="accent2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0993885" y="1529073"/>
            <a:ext cx="229102" cy="294556"/>
          </a:xfrm>
          <a:custGeom>
            <a:avLst/>
            <a:gdLst>
              <a:gd name="connsiteX0" fmla="*/ 603790 w 1207579"/>
              <a:gd name="connsiteY0" fmla="*/ 0 h 1552575"/>
              <a:gd name="connsiteX1" fmla="*/ 0 w 1207579"/>
              <a:gd name="connsiteY1" fmla="*/ 603790 h 1552575"/>
              <a:gd name="connsiteX2" fmla="*/ 603790 w 1207579"/>
              <a:gd name="connsiteY2" fmla="*/ 1552575 h 1552575"/>
              <a:gd name="connsiteX3" fmla="*/ 1207580 w 1207579"/>
              <a:gd name="connsiteY3" fmla="*/ 603790 h 1552575"/>
              <a:gd name="connsiteX4" fmla="*/ 603790 w 1207579"/>
              <a:gd name="connsiteY4" fmla="*/ 0 h 1552575"/>
              <a:gd name="connsiteX5" fmla="*/ 603790 w 1207579"/>
              <a:gd name="connsiteY5" fmla="*/ 946690 h 1552575"/>
              <a:gd name="connsiteX6" fmla="*/ 270415 w 1207579"/>
              <a:gd name="connsiteY6" fmla="*/ 613315 h 1552575"/>
              <a:gd name="connsiteX7" fmla="*/ 603790 w 1207579"/>
              <a:gd name="connsiteY7" fmla="*/ 279940 h 1552575"/>
              <a:gd name="connsiteX8" fmla="*/ 937165 w 1207579"/>
              <a:gd name="connsiteY8" fmla="*/ 613315 h 1552575"/>
              <a:gd name="connsiteX9" fmla="*/ 603790 w 1207579"/>
              <a:gd name="connsiteY9" fmla="*/ 946690 h 1552575"/>
            </a:gdLst>
            <a:ahLst/>
            <a:cxnLst/>
            <a:rect l="l" t="t" r="r" b="b"/>
            <a:pathLst>
              <a:path w="1207579" h="1552575">
                <a:moveTo>
                  <a:pt x="603790" y="0"/>
                </a:moveTo>
                <a:cubicBezTo>
                  <a:pt x="270326" y="0"/>
                  <a:pt x="0" y="270326"/>
                  <a:pt x="0" y="603790"/>
                </a:cubicBezTo>
                <a:cubicBezTo>
                  <a:pt x="0" y="983266"/>
                  <a:pt x="603790" y="1552575"/>
                  <a:pt x="603790" y="1552575"/>
                </a:cubicBezTo>
                <a:cubicBezTo>
                  <a:pt x="603790" y="1552575"/>
                  <a:pt x="1207580" y="1000125"/>
                  <a:pt x="1207580" y="603790"/>
                </a:cubicBezTo>
                <a:cubicBezTo>
                  <a:pt x="1207580" y="270326"/>
                  <a:pt x="937253" y="0"/>
                  <a:pt x="603790" y="0"/>
                </a:cubicBezTo>
                <a:close/>
                <a:moveTo>
                  <a:pt x="603790" y="946690"/>
                </a:moveTo>
                <a:cubicBezTo>
                  <a:pt x="419672" y="946690"/>
                  <a:pt x="270415" y="797433"/>
                  <a:pt x="270415" y="613315"/>
                </a:cubicBezTo>
                <a:cubicBezTo>
                  <a:pt x="270415" y="429197"/>
                  <a:pt x="419672" y="279940"/>
                  <a:pt x="603790" y="279940"/>
                </a:cubicBezTo>
                <a:cubicBezTo>
                  <a:pt x="787908" y="279940"/>
                  <a:pt x="937165" y="429197"/>
                  <a:pt x="937165" y="613315"/>
                </a:cubicBezTo>
                <a:cubicBezTo>
                  <a:pt x="937165" y="797433"/>
                  <a:pt x="787908" y="946690"/>
                  <a:pt x="603790" y="94669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6514038" y="1936695"/>
            <a:ext cx="4993057" cy="44992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DEFC33-AF53-83E3-A04C-792C0CCD1159}"/>
              </a:ext>
            </a:extLst>
          </p:cNvPr>
          <p:cNvSpPr txBox="1"/>
          <p:nvPr/>
        </p:nvSpPr>
        <p:spPr>
          <a:xfrm>
            <a:off x="1277863" y="3888208"/>
            <a:ext cx="4727880" cy="2202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Guo Kaihua (G2304650E)</a:t>
            </a:r>
            <a:endParaRPr lang="en-SG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Ren Xiao (G2405573L)</a:t>
            </a:r>
            <a:endParaRPr lang="en-SG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Zhao </a:t>
            </a:r>
            <a:r>
              <a:rPr lang="en-GB" sz="1800" kern="1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Xiajing</a:t>
            </a: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(G2406086D)</a:t>
            </a:r>
            <a:endParaRPr lang="en-SG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Zhou </a:t>
            </a:r>
            <a:r>
              <a:rPr lang="en-GB" sz="1800" kern="1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Gaoqiang</a:t>
            </a:r>
            <a:r>
              <a:rPr lang="en-GB" sz="1800" kern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(G2304064A)</a:t>
            </a:r>
            <a:endParaRPr lang="en-SG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32232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93936" y="4053666"/>
            <a:ext cx="5348348" cy="17681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/>
              <a:t>Provides short, real-time, and unstructured data ideal for sentiment analysis.</a:t>
            </a:r>
            <a:endParaRPr kumimoji="1" lang="zh-CN" altLang="en-US" sz="2000" dirty="0"/>
          </a:p>
        </p:txBody>
      </p:sp>
      <p:sp>
        <p:nvSpPr>
          <p:cNvPr id="4" name="标题 1"/>
          <p:cNvSpPr txBox="1"/>
          <p:nvPr/>
        </p:nvSpPr>
        <p:spPr>
          <a:xfrm>
            <a:off x="529936" y="3734257"/>
            <a:ext cx="741600" cy="7416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77052" y="3935780"/>
            <a:ext cx="44736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02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393935" y="3751325"/>
            <a:ext cx="5348348" cy="3232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Why Twitter </a:t>
            </a:r>
            <a:endParaRPr kumimoji="1" lang="zh-CN" altLang="en-US" sz="2400" dirty="0"/>
          </a:p>
        </p:txBody>
      </p:sp>
      <p:sp>
        <p:nvSpPr>
          <p:cNvPr id="9" name="标题 1"/>
          <p:cNvSpPr txBox="1"/>
          <p:nvPr/>
        </p:nvSpPr>
        <p:spPr>
          <a:xfrm>
            <a:off x="1393936" y="2681882"/>
            <a:ext cx="7627220" cy="12426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/>
              <a:t>Detects emotional tone in user-generated content.</a:t>
            </a:r>
            <a:endParaRPr kumimoji="1" lang="zh-CN" altLang="en-US" sz="2000" dirty="0"/>
          </a:p>
        </p:txBody>
      </p:sp>
      <p:sp>
        <p:nvSpPr>
          <p:cNvPr id="10" name="标题 1"/>
          <p:cNvSpPr txBox="1"/>
          <p:nvPr/>
        </p:nvSpPr>
        <p:spPr>
          <a:xfrm>
            <a:off x="529936" y="2362473"/>
            <a:ext cx="741600" cy="7416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7052" y="2563996"/>
            <a:ext cx="44736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393935" y="2379541"/>
            <a:ext cx="7627220" cy="3232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Definition of Sentiment Analysis</a:t>
            </a:r>
            <a:endParaRPr kumimoji="1" lang="zh-CN" altLang="en-US" sz="2400" dirty="0"/>
          </a:p>
        </p:txBody>
      </p:sp>
      <p:sp>
        <p:nvSpPr>
          <p:cNvPr id="13" name="标题 1"/>
          <p:cNvSpPr txBox="1"/>
          <p:nvPr/>
        </p:nvSpPr>
        <p:spPr>
          <a:xfrm>
            <a:off x="529936" y="3703714"/>
            <a:ext cx="109202" cy="10920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29936" y="2331930"/>
            <a:ext cx="109202" cy="10920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Introduction</a:t>
            </a:r>
            <a:endParaRPr kumimoji="1" lang="zh-CN" altLang="en-US" dirty="0"/>
          </a:p>
        </p:txBody>
      </p:sp>
      <p:cxnSp>
        <p:nvCxnSpPr>
          <p:cNvPr id="16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6FF713-8D5E-961A-F790-865615687063}"/>
              </a:ext>
            </a:extLst>
          </p:cNvPr>
          <p:cNvSpPr txBox="1"/>
          <p:nvPr/>
        </p:nvSpPr>
        <p:spPr>
          <a:xfrm>
            <a:off x="529936" y="1260645"/>
            <a:ext cx="10328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Objective: </a:t>
            </a:r>
            <a:r>
              <a:rPr lang="en-US" sz="2000" dirty="0"/>
              <a:t>Build and compare ML &amp; DL models for Twitter sentiment analysis.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3423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32933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743403" y="3030735"/>
            <a:ext cx="2120299" cy="1245822"/>
          </a:xfrm>
          <a:custGeom>
            <a:avLst/>
            <a:gdLst>
              <a:gd name="connsiteX0" fmla="*/ 2536760 w 2536760"/>
              <a:gd name="connsiteY0" fmla="*/ 0 h 1245822"/>
              <a:gd name="connsiteX1" fmla="*/ 775503 w 2536760"/>
              <a:gd name="connsiteY1" fmla="*/ 1245822 h 1245822"/>
              <a:gd name="connsiteX2" fmla="*/ 0 w 2536760"/>
              <a:gd name="connsiteY2" fmla="*/ 1222673 h 1245822"/>
              <a:gd name="connsiteX3" fmla="*/ 402919 w 2536760"/>
              <a:gd name="connsiteY3" fmla="*/ 497567 h 1245822"/>
              <a:gd name="connsiteX4" fmla="*/ 1348185 w 2536760"/>
              <a:gd name="connsiteY4" fmla="*/ 2532 h 1245822"/>
              <a:gd name="connsiteX5" fmla="*/ 2536760 w 2536760"/>
              <a:gd name="connsiteY5" fmla="*/ 0 h 1245822"/>
            </a:gdLst>
            <a:ahLst/>
            <a:cxnLst/>
            <a:rect l="l" t="t" r="r" b="b"/>
            <a:pathLst>
              <a:path w="2536760" h="1245822">
                <a:moveTo>
                  <a:pt x="2536760" y="0"/>
                </a:moveTo>
                <a:lnTo>
                  <a:pt x="775503" y="1245822"/>
                </a:lnTo>
                <a:lnTo>
                  <a:pt x="0" y="1222673"/>
                </a:lnTo>
                <a:lnTo>
                  <a:pt x="402919" y="497567"/>
                </a:lnTo>
                <a:lnTo>
                  <a:pt x="1348185" y="2532"/>
                </a:lnTo>
                <a:lnTo>
                  <a:pt x="2536760" y="0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56000"/>
                </a:schemeClr>
              </a:gs>
              <a:gs pos="67000">
                <a:schemeClr val="bg1">
                  <a:lumMod val="85000"/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39463" y="4259325"/>
            <a:ext cx="3328014" cy="1255482"/>
          </a:xfrm>
          <a:custGeom>
            <a:avLst/>
            <a:gdLst>
              <a:gd name="connsiteX0" fmla="*/ 3981691 w 3981691"/>
              <a:gd name="connsiteY0" fmla="*/ 5850 h 1255482"/>
              <a:gd name="connsiteX1" fmla="*/ 1378424 w 3981691"/>
              <a:gd name="connsiteY1" fmla="*/ 1255482 h 1255482"/>
              <a:gd name="connsiteX2" fmla="*/ 602921 w 3981691"/>
              <a:gd name="connsiteY2" fmla="*/ 1232333 h 1255482"/>
              <a:gd name="connsiteX3" fmla="*/ 0 w 3981691"/>
              <a:gd name="connsiteY3" fmla="*/ 511037 h 1255482"/>
              <a:gd name="connsiteX4" fmla="*/ 1457330 w 3981691"/>
              <a:gd name="connsiteY4" fmla="*/ 0 h 1255482"/>
              <a:gd name="connsiteX5" fmla="*/ 3981691 w 3981691"/>
              <a:gd name="connsiteY5" fmla="*/ 5850 h 1255482"/>
            </a:gdLst>
            <a:ahLst/>
            <a:cxnLst/>
            <a:rect l="l" t="t" r="r" b="b"/>
            <a:pathLst>
              <a:path w="3981691" h="1255482">
                <a:moveTo>
                  <a:pt x="3981691" y="5850"/>
                </a:moveTo>
                <a:lnTo>
                  <a:pt x="1378424" y="1255482"/>
                </a:lnTo>
                <a:lnTo>
                  <a:pt x="602921" y="1232333"/>
                </a:lnTo>
                <a:lnTo>
                  <a:pt x="0" y="511037"/>
                </a:lnTo>
                <a:lnTo>
                  <a:pt x="1457330" y="0"/>
                </a:lnTo>
                <a:lnTo>
                  <a:pt x="3981691" y="5850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56000"/>
                </a:schemeClr>
              </a:gs>
              <a:gs pos="67000">
                <a:schemeClr val="bg1">
                  <a:lumMod val="85000"/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317155" y="1822720"/>
            <a:ext cx="2845154" cy="1215342"/>
          </a:xfrm>
          <a:custGeom>
            <a:avLst/>
            <a:gdLst>
              <a:gd name="connsiteX0" fmla="*/ 776372 w 2845154"/>
              <a:gd name="connsiteY0" fmla="*/ 0 h 1215342"/>
              <a:gd name="connsiteX1" fmla="*/ 1131595 w 2845154"/>
              <a:gd name="connsiteY1" fmla="*/ 556070 h 1215342"/>
              <a:gd name="connsiteX2" fmla="*/ 2227131 w 2845154"/>
              <a:gd name="connsiteY2" fmla="*/ 556070 h 1215342"/>
              <a:gd name="connsiteX3" fmla="*/ 2244679 w 2845154"/>
              <a:gd name="connsiteY3" fmla="*/ 469149 h 1215342"/>
              <a:gd name="connsiteX4" fmla="*/ 2532637 w 2845154"/>
              <a:gd name="connsiteY4" fmla="*/ 278277 h 1215342"/>
              <a:gd name="connsiteX5" fmla="*/ 2845154 w 2845154"/>
              <a:gd name="connsiteY5" fmla="*/ 590794 h 1215342"/>
              <a:gd name="connsiteX6" fmla="*/ 2532637 w 2845154"/>
              <a:gd name="connsiteY6" fmla="*/ 903311 h 1215342"/>
              <a:gd name="connsiteX7" fmla="*/ 2244679 w 2845154"/>
              <a:gd name="connsiteY7" fmla="*/ 712440 h 1215342"/>
              <a:gd name="connsiteX8" fmla="*/ 2227131 w 2845154"/>
              <a:gd name="connsiteY8" fmla="*/ 625518 h 1215342"/>
              <a:gd name="connsiteX9" fmla="*/ 1175959 w 2845154"/>
              <a:gd name="connsiteY9" fmla="*/ 625518 h 1215342"/>
              <a:gd name="connsiteX10" fmla="*/ 1552744 w 2845154"/>
              <a:gd name="connsiteY10" fmla="*/ 1215342 h 1215342"/>
              <a:gd name="connsiteX11" fmla="*/ 0 w 2845154"/>
              <a:gd name="connsiteY11" fmla="*/ 1215342 h 1215342"/>
            </a:gdLst>
            <a:ahLst/>
            <a:cxnLst/>
            <a:rect l="l" t="t" r="r" b="b"/>
            <a:pathLst>
              <a:path w="2845154" h="1215342">
                <a:moveTo>
                  <a:pt x="776372" y="0"/>
                </a:moveTo>
                <a:lnTo>
                  <a:pt x="1131595" y="556070"/>
                </a:lnTo>
                <a:lnTo>
                  <a:pt x="2227131" y="556070"/>
                </a:lnTo>
                <a:lnTo>
                  <a:pt x="2244679" y="469149"/>
                </a:lnTo>
                <a:cubicBezTo>
                  <a:pt x="2292122" y="356982"/>
                  <a:pt x="2403189" y="278277"/>
                  <a:pt x="2532637" y="278277"/>
                </a:cubicBezTo>
                <a:cubicBezTo>
                  <a:pt x="2705235" y="278277"/>
                  <a:pt x="2845154" y="418196"/>
                  <a:pt x="2845154" y="590794"/>
                </a:cubicBezTo>
                <a:cubicBezTo>
                  <a:pt x="2845154" y="763392"/>
                  <a:pt x="2705235" y="903311"/>
                  <a:pt x="2532637" y="903311"/>
                </a:cubicBezTo>
                <a:cubicBezTo>
                  <a:pt x="2403189" y="903311"/>
                  <a:pt x="2292122" y="824607"/>
                  <a:pt x="2244679" y="712440"/>
                </a:cubicBezTo>
                <a:lnTo>
                  <a:pt x="2227131" y="625518"/>
                </a:lnTo>
                <a:lnTo>
                  <a:pt x="1175959" y="625518"/>
                </a:lnTo>
                <a:lnTo>
                  <a:pt x="1552744" y="1215342"/>
                </a:lnTo>
                <a:lnTo>
                  <a:pt x="0" y="121534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4762692"/>
            <a:ext cx="5960318" cy="925975"/>
          </a:xfrm>
          <a:custGeom>
            <a:avLst/>
            <a:gdLst>
              <a:gd name="connsiteX0" fmla="*/ 582785 w 5960318"/>
              <a:gd name="connsiteY0" fmla="*/ 0 h 925975"/>
              <a:gd name="connsiteX1" fmla="*/ 4283470 w 5960318"/>
              <a:gd name="connsiteY1" fmla="*/ 0 h 925975"/>
              <a:gd name="connsiteX2" fmla="*/ 4524172 w 5960318"/>
              <a:gd name="connsiteY2" fmla="*/ 382447 h 925975"/>
              <a:gd name="connsiteX3" fmla="*/ 5344632 w 5960318"/>
              <a:gd name="connsiteY3" fmla="*/ 382447 h 925975"/>
              <a:gd name="connsiteX4" fmla="*/ 5359843 w 5960318"/>
              <a:gd name="connsiteY4" fmla="*/ 307101 h 925975"/>
              <a:gd name="connsiteX5" fmla="*/ 5647801 w 5960318"/>
              <a:gd name="connsiteY5" fmla="*/ 116229 h 925975"/>
              <a:gd name="connsiteX6" fmla="*/ 5960318 w 5960318"/>
              <a:gd name="connsiteY6" fmla="*/ 428746 h 925975"/>
              <a:gd name="connsiteX7" fmla="*/ 5647801 w 5960318"/>
              <a:gd name="connsiteY7" fmla="*/ 741263 h 925975"/>
              <a:gd name="connsiteX8" fmla="*/ 5359843 w 5960318"/>
              <a:gd name="connsiteY8" fmla="*/ 550392 h 925975"/>
              <a:gd name="connsiteX9" fmla="*/ 5339958 w 5960318"/>
              <a:gd name="connsiteY9" fmla="*/ 451895 h 925975"/>
              <a:gd name="connsiteX10" fmla="*/ 4567881 w 5960318"/>
              <a:gd name="connsiteY10" fmla="*/ 451895 h 925975"/>
              <a:gd name="connsiteX11" fmla="*/ 4866254 w 5960318"/>
              <a:gd name="connsiteY11" fmla="*/ 925975 h 925975"/>
              <a:gd name="connsiteX12" fmla="*/ 0 w 5960318"/>
              <a:gd name="connsiteY12" fmla="*/ 925975 h 925975"/>
            </a:gdLst>
            <a:ahLst/>
            <a:cxnLst/>
            <a:rect l="l" t="t" r="r" b="b"/>
            <a:pathLst>
              <a:path w="5960318" h="925975">
                <a:moveTo>
                  <a:pt x="582785" y="0"/>
                </a:moveTo>
                <a:lnTo>
                  <a:pt x="4283470" y="0"/>
                </a:lnTo>
                <a:lnTo>
                  <a:pt x="4524172" y="382447"/>
                </a:lnTo>
                <a:lnTo>
                  <a:pt x="5344632" y="382447"/>
                </a:lnTo>
                <a:lnTo>
                  <a:pt x="5359843" y="307101"/>
                </a:lnTo>
                <a:cubicBezTo>
                  <a:pt x="5407286" y="194934"/>
                  <a:pt x="5518353" y="116229"/>
                  <a:pt x="5647801" y="116229"/>
                </a:cubicBezTo>
                <a:cubicBezTo>
                  <a:pt x="5820399" y="116229"/>
                  <a:pt x="5960318" y="256148"/>
                  <a:pt x="5960318" y="428746"/>
                </a:cubicBezTo>
                <a:cubicBezTo>
                  <a:pt x="5960318" y="601344"/>
                  <a:pt x="5820399" y="741263"/>
                  <a:pt x="5647801" y="741263"/>
                </a:cubicBezTo>
                <a:cubicBezTo>
                  <a:pt x="5518353" y="741263"/>
                  <a:pt x="5407286" y="662559"/>
                  <a:pt x="5359843" y="550392"/>
                </a:cubicBezTo>
                <a:lnTo>
                  <a:pt x="5339958" y="451895"/>
                </a:lnTo>
                <a:lnTo>
                  <a:pt x="4567881" y="451895"/>
                </a:lnTo>
                <a:lnTo>
                  <a:pt x="4866254" y="925975"/>
                </a:lnTo>
                <a:lnTo>
                  <a:pt x="0" y="92597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603933" y="3489959"/>
            <a:ext cx="4264431" cy="786595"/>
          </a:xfrm>
          <a:custGeom>
            <a:avLst/>
            <a:gdLst>
              <a:gd name="connsiteX0" fmla="*/ 3951914 w 4264431"/>
              <a:gd name="connsiteY0" fmla="*/ 0 h 786595"/>
              <a:gd name="connsiteX1" fmla="*/ 4264431 w 4264431"/>
              <a:gd name="connsiteY1" fmla="*/ 312517 h 786595"/>
              <a:gd name="connsiteX2" fmla="*/ 3951914 w 4264431"/>
              <a:gd name="connsiteY2" fmla="*/ 625034 h 786595"/>
              <a:gd name="connsiteX3" fmla="*/ 3663956 w 4264431"/>
              <a:gd name="connsiteY3" fmla="*/ 434163 h 786595"/>
              <a:gd name="connsiteX4" fmla="*/ 3651081 w 4264431"/>
              <a:gd name="connsiteY4" fmla="*/ 370390 h 786595"/>
              <a:gd name="connsiteX5" fmla="*/ 2716625 w 4264431"/>
              <a:gd name="connsiteY5" fmla="*/ 370390 h 786595"/>
              <a:gd name="connsiteX6" fmla="*/ 2979189 w 4264431"/>
              <a:gd name="connsiteY6" fmla="*/ 786595 h 786595"/>
              <a:gd name="connsiteX7" fmla="*/ 0 w 4264431"/>
              <a:gd name="connsiteY7" fmla="*/ 786595 h 786595"/>
              <a:gd name="connsiteX8" fmla="*/ 474625 w 4264431"/>
              <a:gd name="connsiteY8" fmla="*/ 34242 h 786595"/>
              <a:gd name="connsiteX9" fmla="*/ 2504565 w 4264431"/>
              <a:gd name="connsiteY9" fmla="*/ 34242 h 786595"/>
              <a:gd name="connsiteX10" fmla="*/ 2672813 w 4264431"/>
              <a:gd name="connsiteY10" fmla="*/ 300942 h 786595"/>
              <a:gd name="connsiteX11" fmla="*/ 3641734 w 4264431"/>
              <a:gd name="connsiteY11" fmla="*/ 300942 h 786595"/>
              <a:gd name="connsiteX12" fmla="*/ 3663956 w 4264431"/>
              <a:gd name="connsiteY12" fmla="*/ 190872 h 786595"/>
              <a:gd name="connsiteX13" fmla="*/ 3951914 w 4264431"/>
              <a:gd name="connsiteY13" fmla="*/ 0 h 786595"/>
            </a:gdLst>
            <a:ahLst/>
            <a:cxnLst/>
            <a:rect l="l" t="t" r="r" b="b"/>
            <a:pathLst>
              <a:path w="4264431" h="786595">
                <a:moveTo>
                  <a:pt x="3951914" y="0"/>
                </a:moveTo>
                <a:cubicBezTo>
                  <a:pt x="4124512" y="0"/>
                  <a:pt x="4264431" y="139919"/>
                  <a:pt x="4264431" y="312517"/>
                </a:cubicBezTo>
                <a:cubicBezTo>
                  <a:pt x="4264431" y="485115"/>
                  <a:pt x="4124512" y="625034"/>
                  <a:pt x="3951914" y="625034"/>
                </a:cubicBezTo>
                <a:cubicBezTo>
                  <a:pt x="3822466" y="625034"/>
                  <a:pt x="3711399" y="546330"/>
                  <a:pt x="3663956" y="434163"/>
                </a:cubicBezTo>
                <a:lnTo>
                  <a:pt x="3651081" y="370390"/>
                </a:lnTo>
                <a:lnTo>
                  <a:pt x="2716625" y="370390"/>
                </a:lnTo>
                <a:lnTo>
                  <a:pt x="2979189" y="786595"/>
                </a:lnTo>
                <a:lnTo>
                  <a:pt x="0" y="786595"/>
                </a:lnTo>
                <a:lnTo>
                  <a:pt x="474625" y="34242"/>
                </a:lnTo>
                <a:lnTo>
                  <a:pt x="2504565" y="34242"/>
                </a:lnTo>
                <a:lnTo>
                  <a:pt x="2672813" y="300942"/>
                </a:lnTo>
                <a:lnTo>
                  <a:pt x="3641734" y="300942"/>
                </a:lnTo>
                <a:lnTo>
                  <a:pt x="3663956" y="190872"/>
                </a:lnTo>
                <a:cubicBezTo>
                  <a:pt x="3711399" y="78705"/>
                  <a:pt x="3822466" y="0"/>
                  <a:pt x="395191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184584" y="1845096"/>
            <a:ext cx="4585793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 Preparation</a:t>
            </a:r>
            <a:endParaRPr kumimoji="1" lang="zh-CN" altLang="en-US" sz="2400" dirty="0"/>
          </a:p>
        </p:txBody>
      </p:sp>
      <p:sp>
        <p:nvSpPr>
          <p:cNvPr id="9" name="标题 1"/>
          <p:cNvSpPr txBox="1"/>
          <p:nvPr/>
        </p:nvSpPr>
        <p:spPr>
          <a:xfrm>
            <a:off x="5184584" y="2324094"/>
            <a:ext cx="4585793" cy="6559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Clean and prepare Twitter dataset.</a:t>
            </a:r>
            <a:endParaRPr kumimoji="1" lang="zh-CN" altLang="en-US" sz="2000" dirty="0"/>
          </a:p>
        </p:txBody>
      </p:sp>
      <p:sp>
        <p:nvSpPr>
          <p:cNvPr id="10" name="标题 1"/>
          <p:cNvSpPr txBox="1"/>
          <p:nvPr/>
        </p:nvSpPr>
        <p:spPr>
          <a:xfrm>
            <a:off x="5979221" y="3315081"/>
            <a:ext cx="4585793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Development</a:t>
            </a:r>
            <a:endParaRPr kumimoji="1" lang="zh-CN" altLang="en-US" sz="2400" dirty="0"/>
          </a:p>
        </p:txBody>
      </p:sp>
      <p:sp>
        <p:nvSpPr>
          <p:cNvPr id="11" name="标题 1"/>
          <p:cNvSpPr txBox="1"/>
          <p:nvPr/>
        </p:nvSpPr>
        <p:spPr>
          <a:xfrm>
            <a:off x="5979221" y="3794079"/>
            <a:ext cx="6165811" cy="6559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Build and compare ML, DL, and Pretrained models.</a:t>
            </a:r>
            <a:endParaRPr kumimoji="1" lang="zh-CN" altLang="en-US" sz="2000" dirty="0"/>
          </a:p>
        </p:txBody>
      </p:sp>
      <p:sp>
        <p:nvSpPr>
          <p:cNvPr id="12" name="标题 1"/>
          <p:cNvSpPr txBox="1"/>
          <p:nvPr/>
        </p:nvSpPr>
        <p:spPr>
          <a:xfrm>
            <a:off x="6762284" y="4699477"/>
            <a:ext cx="4585793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Evaluation Goals</a:t>
            </a:r>
            <a:endParaRPr kumimoji="1" lang="zh-CN" altLang="en-US" sz="2400" dirty="0"/>
          </a:p>
        </p:txBody>
      </p:sp>
      <p:sp>
        <p:nvSpPr>
          <p:cNvPr id="13" name="标题 1"/>
          <p:cNvSpPr txBox="1"/>
          <p:nvPr/>
        </p:nvSpPr>
        <p:spPr>
          <a:xfrm>
            <a:off x="6762284" y="5178475"/>
            <a:ext cx="4952640" cy="6559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Evaluate using accuracy, F1 score, recall.</a:t>
            </a:r>
            <a:endParaRPr kumimoji="1" lang="zh-CN" altLang="en-US" sz="2000" dirty="0"/>
          </a:p>
        </p:txBody>
      </p:sp>
      <p:sp>
        <p:nvSpPr>
          <p:cNvPr id="14" name="标题 1"/>
          <p:cNvSpPr txBox="1"/>
          <p:nvPr/>
        </p:nvSpPr>
        <p:spPr>
          <a:xfrm>
            <a:off x="5307794" y="3554423"/>
            <a:ext cx="496106" cy="49610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433102" y="3654872"/>
            <a:ext cx="254466" cy="25446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7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603119" y="2153461"/>
            <a:ext cx="496106" cy="49610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062803" y="4938606"/>
            <a:ext cx="496106" cy="49610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739763" y="2274281"/>
            <a:ext cx="222818" cy="254466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/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accent1"/>
          </a:solidFill>
          <a:ln w="7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183623" y="5075268"/>
            <a:ext cx="254466" cy="222782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accent1"/>
          </a:solidFill>
          <a:ln w="7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773681" y="2354644"/>
            <a:ext cx="62484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68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773681" y="3642424"/>
            <a:ext cx="62484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68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73681" y="5006404"/>
            <a:ext cx="62484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68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Approach</a:t>
            </a:r>
            <a:endParaRPr kumimoji="1" lang="zh-CN" altLang="en-US" dirty="0"/>
          </a:p>
        </p:txBody>
      </p:sp>
      <p:cxnSp>
        <p:nvCxnSpPr>
          <p:cNvPr id="24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标题 1"/>
          <p:cNvSpPr txBox="1"/>
          <p:nvPr/>
        </p:nvSpPr>
        <p:spPr>
          <a:xfrm rot="19935871" flipH="1" flipV="1">
            <a:off x="9548086" y="-2405314"/>
            <a:ext cx="5779457" cy="4810627"/>
          </a:xfrm>
          <a:custGeom>
            <a:avLst/>
            <a:gdLst>
              <a:gd name="connsiteX0" fmla="*/ 23808 w 5779457"/>
              <a:gd name="connsiteY0" fmla="*/ 4074837 h 4810627"/>
              <a:gd name="connsiteX1" fmla="*/ 1739398 w 5779457"/>
              <a:gd name="connsiteY1" fmla="*/ 2009455 h 4810627"/>
              <a:gd name="connsiteX2" fmla="*/ 2756849 w 5779457"/>
              <a:gd name="connsiteY2" fmla="*/ 22449 h 4810627"/>
              <a:gd name="connsiteX3" fmla="*/ 4906715 w 5779457"/>
              <a:gd name="connsiteY3" fmla="*/ 1074895 h 4810627"/>
              <a:gd name="connsiteX4" fmla="*/ 4759820 w 5779457"/>
              <a:gd name="connsiteY4" fmla="*/ 2228620 h 4810627"/>
              <a:gd name="connsiteX5" fmla="*/ 5766942 w 5779457"/>
              <a:gd name="connsiteY5" fmla="*/ 3431528 h 4810627"/>
              <a:gd name="connsiteX6" fmla="*/ 4432691 w 5779457"/>
              <a:gd name="connsiteY6" fmla="*/ 4771837 h 4810627"/>
              <a:gd name="connsiteX7" fmla="*/ 1131249 w 5779457"/>
              <a:gd name="connsiteY7" fmla="*/ 4188049 h 4810627"/>
              <a:gd name="connsiteX8" fmla="*/ 23808 w 5779457"/>
              <a:gd name="connsiteY8" fmla="*/ 4074837 h 4810627"/>
            </a:gdLst>
            <a:ahLst/>
            <a:cxnLst/>
            <a:rect l="l" t="t" r="r" b="b"/>
            <a:pathLst>
              <a:path w="5779457" h="4810627">
                <a:moveTo>
                  <a:pt x="23808" y="4074837"/>
                </a:moveTo>
                <a:cubicBezTo>
                  <a:pt x="398760" y="2374246"/>
                  <a:pt x="1283891" y="2684853"/>
                  <a:pt x="1739398" y="2009455"/>
                </a:cubicBezTo>
                <a:cubicBezTo>
                  <a:pt x="2194905" y="1334057"/>
                  <a:pt x="2228963" y="178209"/>
                  <a:pt x="2756849" y="22449"/>
                </a:cubicBezTo>
                <a:cubicBezTo>
                  <a:pt x="3284735" y="-133311"/>
                  <a:pt x="4562528" y="554169"/>
                  <a:pt x="4906715" y="1074895"/>
                </a:cubicBezTo>
                <a:cubicBezTo>
                  <a:pt x="5250902" y="1595621"/>
                  <a:pt x="4616449" y="1835848"/>
                  <a:pt x="4759820" y="2228620"/>
                </a:cubicBezTo>
                <a:cubicBezTo>
                  <a:pt x="4903191" y="2621392"/>
                  <a:pt x="5684296" y="2901479"/>
                  <a:pt x="5766942" y="3431528"/>
                </a:cubicBezTo>
                <a:cubicBezTo>
                  <a:pt x="5849588" y="3961577"/>
                  <a:pt x="5536078" y="4560450"/>
                  <a:pt x="4432691" y="4771837"/>
                </a:cubicBezTo>
                <a:cubicBezTo>
                  <a:pt x="3706977" y="4977456"/>
                  <a:pt x="1866063" y="4304216"/>
                  <a:pt x="1131249" y="4188049"/>
                </a:cubicBezTo>
                <a:cubicBezTo>
                  <a:pt x="396435" y="4071882"/>
                  <a:pt x="-118916" y="4440113"/>
                  <a:pt x="23808" y="407483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1050776" flipH="1">
            <a:off x="-4527156" y="3006775"/>
            <a:ext cx="9259285" cy="8227275"/>
          </a:xfrm>
          <a:custGeom>
            <a:avLst/>
            <a:gdLst>
              <a:gd name="connsiteX0" fmla="*/ 147978 w 5723542"/>
              <a:gd name="connsiteY0" fmla="*/ 4132960 h 5085615"/>
              <a:gd name="connsiteX1" fmla="*/ 1863568 w 5723542"/>
              <a:gd name="connsiteY1" fmla="*/ 2067578 h 5085615"/>
              <a:gd name="connsiteX2" fmla="*/ 2881019 w 5723542"/>
              <a:gd name="connsiteY2" fmla="*/ 80572 h 5085615"/>
              <a:gd name="connsiteX3" fmla="*/ 4985590 w 5723542"/>
              <a:gd name="connsiteY3" fmla="*/ 1125600 h 5085615"/>
              <a:gd name="connsiteX4" fmla="*/ 4883990 w 5723542"/>
              <a:gd name="connsiteY4" fmla="*/ 2286743 h 5085615"/>
              <a:gd name="connsiteX5" fmla="*/ 5609704 w 5723542"/>
              <a:gd name="connsiteY5" fmla="*/ 3012457 h 5085615"/>
              <a:gd name="connsiteX6" fmla="*/ 5246847 w 5723542"/>
              <a:gd name="connsiteY6" fmla="*/ 4057486 h 5085615"/>
              <a:gd name="connsiteX7" fmla="*/ 2831102 w 5723542"/>
              <a:gd name="connsiteY7" fmla="*/ 4994181 h 5085615"/>
              <a:gd name="connsiteX8" fmla="*/ 147978 w 5723542"/>
              <a:gd name="connsiteY8" fmla="*/ 4132960 h 5085615"/>
            </a:gdLst>
            <a:ahLst/>
            <a:cxnLst/>
            <a:rect l="l" t="t" r="r" b="b"/>
            <a:pathLst>
              <a:path w="5723542" h="5085615">
                <a:moveTo>
                  <a:pt x="147978" y="4132960"/>
                </a:moveTo>
                <a:cubicBezTo>
                  <a:pt x="-438410" y="2783354"/>
                  <a:pt x="838792" y="2763141"/>
                  <a:pt x="1863568" y="2067578"/>
                </a:cubicBezTo>
                <a:cubicBezTo>
                  <a:pt x="2888344" y="1372015"/>
                  <a:pt x="1728381" y="458729"/>
                  <a:pt x="2881019" y="80572"/>
                </a:cubicBezTo>
                <a:cubicBezTo>
                  <a:pt x="4033657" y="-297585"/>
                  <a:pt x="4651762" y="757905"/>
                  <a:pt x="4985590" y="1125600"/>
                </a:cubicBezTo>
                <a:cubicBezTo>
                  <a:pt x="5319419" y="1493295"/>
                  <a:pt x="4779971" y="1972267"/>
                  <a:pt x="4883990" y="2286743"/>
                </a:cubicBezTo>
                <a:cubicBezTo>
                  <a:pt x="4988009" y="2601219"/>
                  <a:pt x="5549228" y="2717333"/>
                  <a:pt x="5609704" y="3012457"/>
                </a:cubicBezTo>
                <a:cubicBezTo>
                  <a:pt x="5670180" y="3307581"/>
                  <a:pt x="5972561" y="3851867"/>
                  <a:pt x="5246847" y="4057486"/>
                </a:cubicBezTo>
                <a:cubicBezTo>
                  <a:pt x="4521133" y="4263105"/>
                  <a:pt x="3680913" y="4981602"/>
                  <a:pt x="2831102" y="4994181"/>
                </a:cubicBezTo>
                <a:cubicBezTo>
                  <a:pt x="1981291" y="5006760"/>
                  <a:pt x="734366" y="5482566"/>
                  <a:pt x="147978" y="413296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6724" y="1247377"/>
            <a:ext cx="10862176" cy="4886724"/>
          </a:xfrm>
          <a:prstGeom prst="roundRect">
            <a:avLst>
              <a:gd name="adj" fmla="val 4751"/>
            </a:avLst>
          </a:prstGeom>
          <a:solidFill>
            <a:schemeClr val="bg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8288" r="552"/>
          <a:stretch>
            <a:fillRect/>
          </a:stretch>
        </p:blipFill>
        <p:spPr>
          <a:xfrm>
            <a:off x="6662282" y="2709289"/>
            <a:ext cx="5525764" cy="33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1207523" y="1896568"/>
            <a:ext cx="3387338" cy="988128"/>
          </a:xfrm>
          <a:prstGeom prst="roundRect">
            <a:avLst/>
          </a:prstGeom>
          <a:solidFill>
            <a:schemeClr val="accent2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41860" y="1769569"/>
            <a:ext cx="1915740" cy="911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PART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968966" y="2098500"/>
            <a:ext cx="581228" cy="584264"/>
          </a:xfrm>
          <a:prstGeom prst="roundRect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171838" y="2319332"/>
            <a:ext cx="205894" cy="142598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748803" flipH="1" flipV="1">
            <a:off x="2130441" y="-2772041"/>
            <a:ext cx="5603911" cy="4273702"/>
          </a:xfrm>
          <a:custGeom>
            <a:avLst/>
            <a:gdLst>
              <a:gd name="connsiteX0" fmla="*/ 28347 w 5603911"/>
              <a:gd name="connsiteY0" fmla="*/ 4071831 h 4273702"/>
              <a:gd name="connsiteX1" fmla="*/ 1743937 w 5603911"/>
              <a:gd name="connsiteY1" fmla="*/ 2006449 h 4273702"/>
              <a:gd name="connsiteX2" fmla="*/ 2761388 w 5603911"/>
              <a:gd name="connsiteY2" fmla="*/ 19443 h 4273702"/>
              <a:gd name="connsiteX3" fmla="*/ 4865959 w 5603911"/>
              <a:gd name="connsiteY3" fmla="*/ 1064471 h 4273702"/>
              <a:gd name="connsiteX4" fmla="*/ 4764359 w 5603911"/>
              <a:gd name="connsiteY4" fmla="*/ 2225614 h 4273702"/>
              <a:gd name="connsiteX5" fmla="*/ 5490073 w 5603911"/>
              <a:gd name="connsiteY5" fmla="*/ 2951328 h 4273702"/>
              <a:gd name="connsiteX6" fmla="*/ 5127216 w 5603911"/>
              <a:gd name="connsiteY6" fmla="*/ 3996357 h 4273702"/>
              <a:gd name="connsiteX7" fmla="*/ 1135788 w 5603911"/>
              <a:gd name="connsiteY7" fmla="*/ 4185043 h 4273702"/>
              <a:gd name="connsiteX8" fmla="*/ 28347 w 5603911"/>
              <a:gd name="connsiteY8" fmla="*/ 4071831 h 4273702"/>
            </a:gdLst>
            <a:ahLst/>
            <a:cxnLst/>
            <a:rect l="l" t="t" r="r" b="b"/>
            <a:pathLst>
              <a:path w="5603911" h="4273702">
                <a:moveTo>
                  <a:pt x="28347" y="4071831"/>
                </a:moveTo>
                <a:cubicBezTo>
                  <a:pt x="403299" y="2371240"/>
                  <a:pt x="1288430" y="2681847"/>
                  <a:pt x="1743937" y="2006449"/>
                </a:cubicBezTo>
                <a:cubicBezTo>
                  <a:pt x="2199444" y="1331051"/>
                  <a:pt x="2241051" y="176439"/>
                  <a:pt x="2761388" y="19443"/>
                </a:cubicBezTo>
                <a:cubicBezTo>
                  <a:pt x="3281725" y="-137553"/>
                  <a:pt x="4532131" y="696776"/>
                  <a:pt x="4865959" y="1064471"/>
                </a:cubicBezTo>
                <a:cubicBezTo>
                  <a:pt x="5199788" y="1432166"/>
                  <a:pt x="4660340" y="1911138"/>
                  <a:pt x="4764359" y="2225614"/>
                </a:cubicBezTo>
                <a:cubicBezTo>
                  <a:pt x="4868378" y="2540090"/>
                  <a:pt x="5429597" y="2656204"/>
                  <a:pt x="5490073" y="2951328"/>
                </a:cubicBezTo>
                <a:cubicBezTo>
                  <a:pt x="5550549" y="3246452"/>
                  <a:pt x="5852930" y="3790738"/>
                  <a:pt x="5127216" y="3996357"/>
                </a:cubicBezTo>
                <a:cubicBezTo>
                  <a:pt x="4401502" y="4201976"/>
                  <a:pt x="1985599" y="4172464"/>
                  <a:pt x="1135788" y="4185043"/>
                </a:cubicBezTo>
                <a:cubicBezTo>
                  <a:pt x="285977" y="4197622"/>
                  <a:pt x="-114377" y="4437107"/>
                  <a:pt x="28347" y="407183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37180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1388827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099056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11150703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860931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10912578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8795937" flipV="1">
            <a:off x="697676" y="4552977"/>
            <a:ext cx="1945031" cy="2297530"/>
          </a:xfrm>
          <a:custGeom>
            <a:avLst/>
            <a:gdLst>
              <a:gd name="connsiteX0" fmla="*/ 1416699 w 1945031"/>
              <a:gd name="connsiteY0" fmla="*/ 0 h 2297530"/>
              <a:gd name="connsiteX1" fmla="*/ 1361827 w 1945031"/>
              <a:gd name="connsiteY1" fmla="*/ 50273 h 2297530"/>
              <a:gd name="connsiteX2" fmla="*/ 1008262 w 1945031"/>
              <a:gd name="connsiteY2" fmla="*/ 1046675 h 2297530"/>
              <a:gd name="connsiteX3" fmla="*/ 10296 w 1945031"/>
              <a:gd name="connsiteY3" fmla="*/ 2248118 h 2297530"/>
              <a:gd name="connsiteX4" fmla="*/ 0 w 1945031"/>
              <a:gd name="connsiteY4" fmla="*/ 2297530 h 2297530"/>
              <a:gd name="connsiteX5" fmla="*/ 1830382 w 1945031"/>
              <a:gd name="connsiteY5" fmla="*/ 1090567 h 2297530"/>
              <a:gd name="connsiteX6" fmla="*/ 1902887 w 1945031"/>
              <a:gd name="connsiteY6" fmla="*/ 737314 h 2297530"/>
            </a:gdLst>
            <a:ahLst/>
            <a:cxnLst/>
            <a:rect l="l" t="t" r="r" b="b"/>
            <a:pathLst>
              <a:path w="1945031" h="2297530">
                <a:moveTo>
                  <a:pt x="1416699" y="0"/>
                </a:moveTo>
                <a:lnTo>
                  <a:pt x="1361827" y="50273"/>
                </a:lnTo>
                <a:cubicBezTo>
                  <a:pt x="1126997" y="302966"/>
                  <a:pt x="1299173" y="649343"/>
                  <a:pt x="1008262" y="1046675"/>
                </a:cubicBezTo>
                <a:cubicBezTo>
                  <a:pt x="650219" y="1535700"/>
                  <a:pt x="228407" y="1258876"/>
                  <a:pt x="10296" y="2248118"/>
                </a:cubicBezTo>
                <a:lnTo>
                  <a:pt x="0" y="2297530"/>
                </a:lnTo>
                <a:lnTo>
                  <a:pt x="1830382" y="1090567"/>
                </a:lnTo>
                <a:cubicBezTo>
                  <a:pt x="1947952" y="1013041"/>
                  <a:pt x="1980414" y="854884"/>
                  <a:pt x="1902887" y="7373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12834" y="3147108"/>
            <a:ext cx="5192715" cy="16222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Dataset Preparation</a:t>
            </a:r>
            <a:endParaRPr kumimoji="1" lang="zh-CN" altLang="en-US" dirty="0"/>
          </a:p>
        </p:txBody>
      </p:sp>
      <p:sp>
        <p:nvSpPr>
          <p:cNvPr id="21" name="标题 1"/>
          <p:cNvSpPr txBox="1"/>
          <p:nvPr/>
        </p:nvSpPr>
        <p:spPr>
          <a:xfrm>
            <a:off x="1695450" y="5028901"/>
            <a:ext cx="2880000" cy="36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128075" y="5001901"/>
            <a:ext cx="1047118" cy="9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533993" y="508557"/>
            <a:ext cx="1915740" cy="21729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01</a:t>
            </a:r>
            <a:endParaRPr kumimoji="1" lang="zh-CN" altLang="en-US" dirty="0"/>
          </a:p>
        </p:txBody>
      </p:sp>
      <p:sp>
        <p:nvSpPr>
          <p:cNvPr id="24" name="标题 1"/>
          <p:cNvSpPr txBox="1"/>
          <p:nvPr/>
        </p:nvSpPr>
        <p:spPr>
          <a:xfrm>
            <a:off x="5081770" y="1074025"/>
            <a:ext cx="322474" cy="322474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1502876"/>
            <a:ext cx="12192000" cy="1293493"/>
          </a:xfrm>
          <a:prstGeom prst="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99000">
                <a:schemeClr val="accent1"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60170" y="2986693"/>
            <a:ext cx="4680000" cy="756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Dataset Source</a:t>
            </a:r>
            <a:endParaRPr kumimoji="1" lang="zh-CN" altLang="en-US" sz="2400" dirty="0"/>
          </a:p>
        </p:txBody>
      </p:sp>
      <p:sp>
        <p:nvSpPr>
          <p:cNvPr id="5" name="标题 1"/>
          <p:cNvSpPr txBox="1"/>
          <p:nvPr/>
        </p:nvSpPr>
        <p:spPr>
          <a:xfrm>
            <a:off x="1060171" y="1836419"/>
            <a:ext cx="1543777" cy="87924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60171" y="3781524"/>
            <a:ext cx="4680000" cy="198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Kaggle Twitter Sentiment Dataset (1.6M tweets)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6439130" y="2986693"/>
            <a:ext cx="4680000" cy="756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Sentiment Classification</a:t>
            </a:r>
            <a:endParaRPr kumimoji="1" lang="zh-CN" altLang="en-US" sz="2400" dirty="0"/>
          </a:p>
        </p:txBody>
      </p:sp>
      <p:sp>
        <p:nvSpPr>
          <p:cNvPr id="8" name="标题 1"/>
          <p:cNvSpPr txBox="1"/>
          <p:nvPr/>
        </p:nvSpPr>
        <p:spPr>
          <a:xfrm>
            <a:off x="6439130" y="1836419"/>
            <a:ext cx="1543777" cy="87924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439130" y="3781524"/>
            <a:ext cx="4680000" cy="198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Binary sentiment Positive (1), Negative (0)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Dataset Overview</a:t>
            </a:r>
            <a:endParaRPr kumimoji="1" lang="zh-CN" altLang="en-US" dirty="0"/>
          </a:p>
        </p:txBody>
      </p:sp>
      <p:cxnSp>
        <p:nvCxnSpPr>
          <p:cNvPr id="11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005252AF-0E7C-E5D2-AF46-7235067A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033" y="4711406"/>
            <a:ext cx="8221933" cy="1539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32933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101670" y="2102792"/>
            <a:ext cx="4053425" cy="532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Word Count of Tweets</a:t>
            </a:r>
            <a:endParaRPr kumimoji="1" lang="zh-CN" altLang="en-US" sz="2400" dirty="0"/>
          </a:p>
        </p:txBody>
      </p:sp>
      <p:sp>
        <p:nvSpPr>
          <p:cNvPr id="4" name="标题 1"/>
          <p:cNvSpPr txBox="1"/>
          <p:nvPr/>
        </p:nvSpPr>
        <p:spPr>
          <a:xfrm>
            <a:off x="1114371" y="2705228"/>
            <a:ext cx="4301793" cy="532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SG" dirty="0"/>
              <a:t>Most tweets are &lt;150 chars &amp; &lt;30 words.</a:t>
            </a:r>
            <a:endParaRPr kumimoji="1" lang="en-US" altLang="zh-CN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Normal"/>
              <a:ea typeface="Source Han Sans CN Normal"/>
              <a:cs typeface="Source Han Sans CN Normal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114371" y="1102667"/>
            <a:ext cx="1391112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7990369" y="1102667"/>
            <a:ext cx="1391112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003887" y="2705228"/>
            <a:ext cx="3055875" cy="4544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Balanced class distribution.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7991187" y="2102792"/>
            <a:ext cx="3070774" cy="5324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Class Distribution</a:t>
            </a:r>
            <a:endParaRPr kumimoji="1" lang="zh-CN" altLang="en-US" sz="2400" dirty="0"/>
          </a:p>
        </p:txBody>
      </p:sp>
      <p:sp>
        <p:nvSpPr>
          <p:cNvPr id="9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Observations from Dataset</a:t>
            </a:r>
            <a:endParaRPr kumimoji="1" lang="zh-CN" altLang="en-US" dirty="0"/>
          </a:p>
        </p:txBody>
      </p:sp>
      <p:cxnSp>
        <p:nvCxnSpPr>
          <p:cNvPr id="10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1" name="Picture 10" descr="A graph of a number of columns&#10;&#10;AI-generated content may be incorrect.">
            <a:extLst>
              <a:ext uri="{FF2B5EF4-FFF2-40B4-BE49-F238E27FC236}">
                <a16:creationId xmlns:a16="http://schemas.microsoft.com/office/drawing/2014/main" id="{F301C667-4634-AC5A-BBC4-2E85F910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29" y="3618633"/>
            <a:ext cx="3494918" cy="2278199"/>
          </a:xfrm>
          <a:prstGeom prst="rect">
            <a:avLst/>
          </a:prstGeom>
        </p:spPr>
      </p:pic>
      <p:pic>
        <p:nvPicPr>
          <p:cNvPr id="12" name="Picture 11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7F016E83-3694-218C-4175-70A2AF090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920" y="3520327"/>
            <a:ext cx="3447429" cy="2393375"/>
          </a:xfrm>
          <a:prstGeom prst="rect">
            <a:avLst/>
          </a:prstGeom>
        </p:spPr>
      </p:pic>
      <p:pic>
        <p:nvPicPr>
          <p:cNvPr id="13" name="Picture 12" descr="A graph of a number of words&#10;&#10;AI-generated content may be incorrect.">
            <a:extLst>
              <a:ext uri="{FF2B5EF4-FFF2-40B4-BE49-F238E27FC236}">
                <a16:creationId xmlns:a16="http://schemas.microsoft.com/office/drawing/2014/main" id="{6DDBAEA8-A0BD-6F45-1CC9-85E144D03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3047" y="3618633"/>
            <a:ext cx="3447429" cy="22707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35000" y="652866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660399" y="1367782"/>
            <a:ext cx="4612803" cy="2052000"/>
          </a:xfrm>
          <a:prstGeom prst="roundRect">
            <a:avLst>
              <a:gd name="adj" fmla="val 14814"/>
            </a:avLst>
          </a:prstGeom>
          <a:solidFill>
            <a:schemeClr val="bg1"/>
          </a:solidFill>
          <a:ln cap="flat">
            <a:noFill/>
            <a:prstDash val="solid"/>
            <a:miter/>
          </a:ln>
          <a:effectLst>
            <a:outerShdw blurRad="254000" dist="76200" dir="27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3789599" y="3855562"/>
            <a:ext cx="4612802" cy="1914070"/>
          </a:xfrm>
          <a:prstGeom prst="roundRect">
            <a:avLst>
              <a:gd name="adj" fmla="val 14814"/>
            </a:avLst>
          </a:prstGeom>
          <a:solidFill>
            <a:schemeClr val="bg1"/>
          </a:solidFill>
          <a:ln cap="flat">
            <a:noFill/>
            <a:prstDash val="solid"/>
            <a:miter/>
          </a:ln>
          <a:effectLst>
            <a:outerShdw blurRad="254000" dist="76200" dir="27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6800" y="1627579"/>
            <a:ext cx="3780000" cy="4024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 </a:t>
            </a:r>
            <a:r>
              <a:rPr kumimoji="1" lang="en-US" altLang="zh-CN" sz="2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Selection</a:t>
            </a:r>
            <a:endParaRPr kumimoji="1" lang="zh-CN" altLang="en-US" sz="2200" dirty="0"/>
          </a:p>
        </p:txBody>
      </p:sp>
      <p:sp>
        <p:nvSpPr>
          <p:cNvPr id="6" name="标题 1"/>
          <p:cNvSpPr txBox="1"/>
          <p:nvPr/>
        </p:nvSpPr>
        <p:spPr>
          <a:xfrm>
            <a:off x="1076800" y="2078985"/>
            <a:ext cx="378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Retained only 'polarity' and 'text'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4206001" y="4318603"/>
            <a:ext cx="3779999" cy="35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Noise Removal</a:t>
            </a:r>
            <a:endParaRPr kumimoji="1" lang="zh-CN" altLang="en-US" sz="2200" dirty="0"/>
          </a:p>
        </p:txBody>
      </p:sp>
      <p:sp>
        <p:nvSpPr>
          <p:cNvPr id="8" name="标题 1"/>
          <p:cNvSpPr txBox="1"/>
          <p:nvPr/>
        </p:nvSpPr>
        <p:spPr>
          <a:xfrm>
            <a:off x="4206001" y="4830972"/>
            <a:ext cx="3779999" cy="9451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Removed tags, emojis, usernames, non- ASCII chars.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 flipH="1">
            <a:off x="6906097" y="1367782"/>
            <a:ext cx="4612803" cy="2052000"/>
          </a:xfrm>
          <a:prstGeom prst="roundRect">
            <a:avLst>
              <a:gd name="adj" fmla="val 14814"/>
            </a:avLst>
          </a:prstGeom>
          <a:solidFill>
            <a:schemeClr val="bg1"/>
          </a:solidFill>
          <a:ln cap="flat">
            <a:noFill/>
            <a:prstDash val="solid"/>
            <a:miter/>
          </a:ln>
          <a:effectLst>
            <a:outerShdw blurRad="254000" dist="76200" dir="27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906097" y="1627579"/>
            <a:ext cx="4625503" cy="4024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Text Expansion and Tokenization</a:t>
            </a:r>
            <a:endParaRPr kumimoji="1" lang="zh-CN" altLang="en-US" sz="2200" dirty="0"/>
          </a:p>
        </p:txBody>
      </p:sp>
      <p:sp>
        <p:nvSpPr>
          <p:cNvPr id="11" name="标题 1"/>
          <p:cNvSpPr txBox="1"/>
          <p:nvPr/>
        </p:nvSpPr>
        <p:spPr>
          <a:xfrm>
            <a:off x="7322498" y="2078985"/>
            <a:ext cx="378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Expanded abbreviations, tokenized using NLTK.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5045651" y="2030013"/>
            <a:ext cx="2087999" cy="208800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cap="flat">
            <a:noFill/>
            <a:prstDash val="solid"/>
            <a:miter/>
          </a:ln>
          <a:effectLst>
            <a:outerShdw blurRad="381000" dist="127000" dir="2700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624824" y="2373376"/>
            <a:ext cx="929654" cy="930896"/>
          </a:xfrm>
          <a:custGeom>
            <a:avLst/>
            <a:gdLst>
              <a:gd name="connsiteX0" fmla="*/ 1371696 w 1870330"/>
              <a:gd name="connsiteY0" fmla="*/ 1296270 h 1845296"/>
              <a:gd name="connsiteX1" fmla="*/ 1371696 w 1870330"/>
              <a:gd name="connsiteY1" fmla="*/ 1371136 h 1845296"/>
              <a:gd name="connsiteX2" fmla="*/ 1671448 w 1870330"/>
              <a:gd name="connsiteY2" fmla="*/ 1371136 h 1845296"/>
              <a:gd name="connsiteX3" fmla="*/ 1671448 w 1870330"/>
              <a:gd name="connsiteY3" fmla="*/ 1296270 h 1845296"/>
              <a:gd name="connsiteX4" fmla="*/ 1371696 w 1870330"/>
              <a:gd name="connsiteY4" fmla="*/ 996899 h 1845296"/>
              <a:gd name="connsiteX5" fmla="*/ 1371696 w 1870330"/>
              <a:gd name="connsiteY5" fmla="*/ 1071765 h 1845296"/>
              <a:gd name="connsiteX6" fmla="*/ 1671448 w 1870330"/>
              <a:gd name="connsiteY6" fmla="*/ 1071765 h 1845296"/>
              <a:gd name="connsiteX7" fmla="*/ 1671448 w 1870330"/>
              <a:gd name="connsiteY7" fmla="*/ 996899 h 1845296"/>
              <a:gd name="connsiteX8" fmla="*/ 1371696 w 1870330"/>
              <a:gd name="connsiteY8" fmla="*/ 747820 h 1845296"/>
              <a:gd name="connsiteX9" fmla="*/ 1371696 w 1870330"/>
              <a:gd name="connsiteY9" fmla="*/ 822401 h 1845296"/>
              <a:gd name="connsiteX10" fmla="*/ 1671448 w 1870330"/>
              <a:gd name="connsiteY10" fmla="*/ 822401 h 1845296"/>
              <a:gd name="connsiteX11" fmla="*/ 1671448 w 1870330"/>
              <a:gd name="connsiteY11" fmla="*/ 747820 h 1845296"/>
              <a:gd name="connsiteX12" fmla="*/ 1371696 w 1870330"/>
              <a:gd name="connsiteY12" fmla="*/ 473405 h 1845296"/>
              <a:gd name="connsiteX13" fmla="*/ 1371696 w 1870330"/>
              <a:gd name="connsiteY13" fmla="*/ 547986 h 1845296"/>
              <a:gd name="connsiteX14" fmla="*/ 1671448 w 1870330"/>
              <a:gd name="connsiteY14" fmla="*/ 547986 h 1845296"/>
              <a:gd name="connsiteX15" fmla="*/ 1671448 w 1870330"/>
              <a:gd name="connsiteY15" fmla="*/ 473405 h 1845296"/>
              <a:gd name="connsiteX16" fmla="*/ 1221963 w 1870330"/>
              <a:gd name="connsiteY16" fmla="*/ 224040 h 1845296"/>
              <a:gd name="connsiteX17" fmla="*/ 1794130 w 1870330"/>
              <a:gd name="connsiteY17" fmla="*/ 224040 h 1845296"/>
              <a:gd name="connsiteX18" fmla="*/ 1870330 w 1870330"/>
              <a:gd name="connsiteY18" fmla="*/ 298811 h 1845296"/>
              <a:gd name="connsiteX19" fmla="*/ 1870330 w 1870330"/>
              <a:gd name="connsiteY19" fmla="*/ 1570971 h 1845296"/>
              <a:gd name="connsiteX20" fmla="*/ 1794130 w 1870330"/>
              <a:gd name="connsiteY20" fmla="*/ 1645742 h 1845296"/>
              <a:gd name="connsiteX21" fmla="*/ 1221963 w 1870330"/>
              <a:gd name="connsiteY21" fmla="*/ 1645742 h 1845296"/>
              <a:gd name="connsiteX22" fmla="*/ 1221963 w 1870330"/>
              <a:gd name="connsiteY22" fmla="*/ 1383804 h 1845296"/>
              <a:gd name="connsiteX23" fmla="*/ 1298163 w 1870330"/>
              <a:gd name="connsiteY23" fmla="*/ 1383804 h 1845296"/>
              <a:gd name="connsiteX24" fmla="*/ 1298163 w 1870330"/>
              <a:gd name="connsiteY24" fmla="*/ 1309033 h 1845296"/>
              <a:gd name="connsiteX25" fmla="*/ 1221963 w 1870330"/>
              <a:gd name="connsiteY25" fmla="*/ 1309033 h 1845296"/>
              <a:gd name="connsiteX26" fmla="*/ 1221963 w 1870330"/>
              <a:gd name="connsiteY26" fmla="*/ 1084434 h 1845296"/>
              <a:gd name="connsiteX27" fmla="*/ 1298163 w 1870330"/>
              <a:gd name="connsiteY27" fmla="*/ 1084434 h 1845296"/>
              <a:gd name="connsiteX28" fmla="*/ 1298163 w 1870330"/>
              <a:gd name="connsiteY28" fmla="*/ 1009662 h 1845296"/>
              <a:gd name="connsiteX29" fmla="*/ 1221963 w 1870330"/>
              <a:gd name="connsiteY29" fmla="*/ 1009662 h 1845296"/>
              <a:gd name="connsiteX30" fmla="*/ 1221963 w 1870330"/>
              <a:gd name="connsiteY30" fmla="*/ 822496 h 1845296"/>
              <a:gd name="connsiteX31" fmla="*/ 1298163 w 1870330"/>
              <a:gd name="connsiteY31" fmla="*/ 822496 h 1845296"/>
              <a:gd name="connsiteX32" fmla="*/ 1298163 w 1870330"/>
              <a:gd name="connsiteY32" fmla="*/ 747725 h 1845296"/>
              <a:gd name="connsiteX33" fmla="*/ 1221963 w 1870330"/>
              <a:gd name="connsiteY33" fmla="*/ 747725 h 1845296"/>
              <a:gd name="connsiteX34" fmla="*/ 1221963 w 1870330"/>
              <a:gd name="connsiteY34" fmla="*/ 560654 h 1845296"/>
              <a:gd name="connsiteX35" fmla="*/ 1298163 w 1870330"/>
              <a:gd name="connsiteY35" fmla="*/ 560654 h 1845296"/>
              <a:gd name="connsiteX36" fmla="*/ 1298163 w 1870330"/>
              <a:gd name="connsiteY36" fmla="*/ 485883 h 1845296"/>
              <a:gd name="connsiteX37" fmla="*/ 1221963 w 1870330"/>
              <a:gd name="connsiteY37" fmla="*/ 485883 h 1845296"/>
              <a:gd name="connsiteX38" fmla="*/ 1054227 w 1870330"/>
              <a:gd name="connsiteY38" fmla="*/ 393 h 1845296"/>
              <a:gd name="connsiteX39" fmla="*/ 1054132 w 1870330"/>
              <a:gd name="connsiteY39" fmla="*/ 869 h 1845296"/>
              <a:gd name="connsiteX40" fmla="*/ 1083754 w 1870330"/>
              <a:gd name="connsiteY40" fmla="*/ 7727 h 1845296"/>
              <a:gd name="connsiteX41" fmla="*/ 1097470 w 1870330"/>
              <a:gd name="connsiteY41" fmla="*/ 36302 h 1845296"/>
              <a:gd name="connsiteX42" fmla="*/ 1097470 w 1870330"/>
              <a:gd name="connsiteY42" fmla="*/ 1808714 h 1845296"/>
              <a:gd name="connsiteX43" fmla="*/ 1083754 w 1870330"/>
              <a:gd name="connsiteY43" fmla="*/ 1837289 h 1845296"/>
              <a:gd name="connsiteX44" fmla="*/ 1060895 w 1870330"/>
              <a:gd name="connsiteY44" fmla="*/ 1845290 h 1845296"/>
              <a:gd name="connsiteX45" fmla="*/ 1053941 w 1870330"/>
              <a:gd name="connsiteY45" fmla="*/ 1844148 h 1845296"/>
              <a:gd name="connsiteX46" fmla="*/ 29623 w 1870330"/>
              <a:gd name="connsiteY46" fmla="*/ 1647932 h 1845296"/>
              <a:gd name="connsiteX47" fmla="*/ 0 w 1870330"/>
              <a:gd name="connsiteY47" fmla="*/ 1611071 h 1845296"/>
              <a:gd name="connsiteX48" fmla="*/ 0 w 1870330"/>
              <a:gd name="connsiteY48" fmla="*/ 233375 h 1845296"/>
              <a:gd name="connsiteX49" fmla="*/ 29813 w 1870330"/>
              <a:gd name="connsiteY49" fmla="*/ 196513 h 1845296"/>
            </a:gdLst>
            <a:ahLst/>
            <a:cxnLst/>
            <a:rect l="l" t="t" r="r" b="b"/>
            <a:pathLst>
              <a:path w="1870330" h="1845296">
                <a:moveTo>
                  <a:pt x="1371696" y="1296270"/>
                </a:moveTo>
                <a:lnTo>
                  <a:pt x="1371696" y="1371136"/>
                </a:lnTo>
                <a:lnTo>
                  <a:pt x="1671448" y="1371136"/>
                </a:lnTo>
                <a:lnTo>
                  <a:pt x="1671448" y="1296270"/>
                </a:lnTo>
                <a:close/>
                <a:moveTo>
                  <a:pt x="1371696" y="996899"/>
                </a:moveTo>
                <a:lnTo>
                  <a:pt x="1371696" y="1071765"/>
                </a:lnTo>
                <a:lnTo>
                  <a:pt x="1671448" y="1071765"/>
                </a:lnTo>
                <a:lnTo>
                  <a:pt x="1671448" y="996899"/>
                </a:lnTo>
                <a:close/>
                <a:moveTo>
                  <a:pt x="1371696" y="747820"/>
                </a:moveTo>
                <a:lnTo>
                  <a:pt x="1371696" y="822401"/>
                </a:lnTo>
                <a:lnTo>
                  <a:pt x="1671448" y="822401"/>
                </a:lnTo>
                <a:lnTo>
                  <a:pt x="1671448" y="747820"/>
                </a:lnTo>
                <a:close/>
                <a:moveTo>
                  <a:pt x="1371696" y="473405"/>
                </a:moveTo>
                <a:lnTo>
                  <a:pt x="1371696" y="547986"/>
                </a:lnTo>
                <a:lnTo>
                  <a:pt x="1671448" y="547986"/>
                </a:lnTo>
                <a:lnTo>
                  <a:pt x="1671448" y="473405"/>
                </a:lnTo>
                <a:close/>
                <a:moveTo>
                  <a:pt x="1221963" y="224040"/>
                </a:moveTo>
                <a:lnTo>
                  <a:pt x="1794130" y="224040"/>
                </a:lnTo>
                <a:cubicBezTo>
                  <a:pt x="1835792" y="223723"/>
                  <a:pt x="1869863" y="257155"/>
                  <a:pt x="1870330" y="298811"/>
                </a:cubicBezTo>
                <a:lnTo>
                  <a:pt x="1870330" y="1570971"/>
                </a:lnTo>
                <a:cubicBezTo>
                  <a:pt x="1869863" y="1612623"/>
                  <a:pt x="1835792" y="1646056"/>
                  <a:pt x="1794130" y="1645742"/>
                </a:cubicBezTo>
                <a:lnTo>
                  <a:pt x="1221963" y="1645742"/>
                </a:lnTo>
                <a:lnTo>
                  <a:pt x="1221963" y="1383804"/>
                </a:lnTo>
                <a:lnTo>
                  <a:pt x="1298163" y="1383804"/>
                </a:lnTo>
                <a:lnTo>
                  <a:pt x="1298163" y="1309033"/>
                </a:lnTo>
                <a:lnTo>
                  <a:pt x="1221963" y="1309033"/>
                </a:lnTo>
                <a:lnTo>
                  <a:pt x="1221963" y="1084434"/>
                </a:lnTo>
                <a:lnTo>
                  <a:pt x="1298163" y="1084434"/>
                </a:lnTo>
                <a:lnTo>
                  <a:pt x="1298163" y="1009662"/>
                </a:lnTo>
                <a:lnTo>
                  <a:pt x="1221963" y="1009662"/>
                </a:lnTo>
                <a:lnTo>
                  <a:pt x="1221963" y="822496"/>
                </a:lnTo>
                <a:lnTo>
                  <a:pt x="1298163" y="822496"/>
                </a:lnTo>
                <a:lnTo>
                  <a:pt x="1298163" y="747725"/>
                </a:lnTo>
                <a:lnTo>
                  <a:pt x="1221963" y="747725"/>
                </a:lnTo>
                <a:lnTo>
                  <a:pt x="1221963" y="560654"/>
                </a:lnTo>
                <a:lnTo>
                  <a:pt x="1298163" y="560654"/>
                </a:lnTo>
                <a:lnTo>
                  <a:pt x="1298163" y="485883"/>
                </a:lnTo>
                <a:lnTo>
                  <a:pt x="1221963" y="485883"/>
                </a:lnTo>
                <a:close/>
                <a:moveTo>
                  <a:pt x="1054227" y="393"/>
                </a:moveTo>
                <a:lnTo>
                  <a:pt x="1054132" y="869"/>
                </a:lnTo>
                <a:cubicBezTo>
                  <a:pt x="1064533" y="-1498"/>
                  <a:pt x="1075449" y="1029"/>
                  <a:pt x="1083754" y="7727"/>
                </a:cubicBezTo>
                <a:cubicBezTo>
                  <a:pt x="1092260" y="14808"/>
                  <a:pt x="1097261" y="25237"/>
                  <a:pt x="1097470" y="36302"/>
                </a:cubicBezTo>
                <a:lnTo>
                  <a:pt x="1097470" y="1808714"/>
                </a:lnTo>
                <a:cubicBezTo>
                  <a:pt x="1097271" y="1819783"/>
                  <a:pt x="1092260" y="1830212"/>
                  <a:pt x="1083754" y="1837289"/>
                </a:cubicBezTo>
                <a:cubicBezTo>
                  <a:pt x="1077344" y="1842614"/>
                  <a:pt x="1069229" y="1845452"/>
                  <a:pt x="1060895" y="1845290"/>
                </a:cubicBezTo>
                <a:cubicBezTo>
                  <a:pt x="1058551" y="1845100"/>
                  <a:pt x="1056227" y="1844719"/>
                  <a:pt x="1053941" y="1844148"/>
                </a:cubicBezTo>
                <a:lnTo>
                  <a:pt x="29623" y="1647932"/>
                </a:lnTo>
                <a:cubicBezTo>
                  <a:pt x="12259" y="1644227"/>
                  <a:pt x="-124" y="1628825"/>
                  <a:pt x="0" y="1611071"/>
                </a:cubicBezTo>
                <a:lnTo>
                  <a:pt x="0" y="233375"/>
                </a:lnTo>
                <a:cubicBezTo>
                  <a:pt x="-105" y="215558"/>
                  <a:pt x="12373" y="200139"/>
                  <a:pt x="29813" y="196513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 Preprocessing</a:t>
            </a:r>
            <a:endParaRPr kumimoji="1" lang="zh-CN" altLang="en-US" dirty="0"/>
          </a:p>
        </p:txBody>
      </p:sp>
      <p:cxnSp>
        <p:nvCxnSpPr>
          <p:cNvPr id="15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41935" y="59373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73632" y="2305813"/>
            <a:ext cx="4979660" cy="916787"/>
          </a:xfrm>
          <a:prstGeom prst="roundRect">
            <a:avLst>
              <a:gd name="adj" fmla="val 2808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73630" y="4262871"/>
            <a:ext cx="4979660" cy="916788"/>
          </a:xfrm>
          <a:prstGeom prst="roundRect">
            <a:avLst>
              <a:gd name="adj" fmla="val 2808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73632" y="2252473"/>
            <a:ext cx="4979660" cy="970128"/>
          </a:xfrm>
          <a:prstGeom prst="roundRect">
            <a:avLst>
              <a:gd name="adj" fmla="val 280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73630" y="4209531"/>
            <a:ext cx="4979660" cy="970128"/>
          </a:xfrm>
          <a:prstGeom prst="roundRect">
            <a:avLst>
              <a:gd name="adj" fmla="val 280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7477" y="2590075"/>
            <a:ext cx="4431973" cy="4850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Top 50,000 most frequent words selected.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317500" y="1967773"/>
            <a:ext cx="5291925" cy="485029"/>
          </a:xfrm>
          <a:prstGeom prst="plaqu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41819" y="2065674"/>
            <a:ext cx="4643286" cy="2892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Word Selection</a:t>
            </a:r>
            <a:endParaRPr kumimoji="1" lang="zh-CN" altLang="en-US" sz="2000" dirty="0"/>
          </a:p>
        </p:txBody>
      </p:sp>
      <p:sp>
        <p:nvSpPr>
          <p:cNvPr id="10" name="标题 1"/>
          <p:cNvSpPr txBox="1"/>
          <p:nvPr/>
        </p:nvSpPr>
        <p:spPr>
          <a:xfrm>
            <a:off x="395563" y="4571792"/>
            <a:ext cx="5135794" cy="4850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7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Balances noise removal and semantic coverage.</a:t>
            </a:r>
            <a:endParaRPr kumimoji="1" lang="zh-CN" altLang="en-US" sz="1700" dirty="0"/>
          </a:p>
        </p:txBody>
      </p:sp>
      <p:sp>
        <p:nvSpPr>
          <p:cNvPr id="11" name="标题 1"/>
          <p:cNvSpPr txBox="1"/>
          <p:nvPr/>
        </p:nvSpPr>
        <p:spPr>
          <a:xfrm>
            <a:off x="317500" y="3924831"/>
            <a:ext cx="5291925" cy="485029"/>
          </a:xfrm>
          <a:prstGeom prst="plaqu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73630" y="4022730"/>
            <a:ext cx="5135790" cy="2401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Balance Between Noise and Semantics</a:t>
            </a:r>
            <a:endParaRPr kumimoji="1" lang="zh-CN" altLang="en-US" sz="2000" dirty="0"/>
          </a:p>
        </p:txBody>
      </p:sp>
      <p:sp>
        <p:nvSpPr>
          <p:cNvPr id="13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 Review After Preprocessing</a:t>
            </a:r>
            <a:endParaRPr kumimoji="1" lang="zh-CN" altLang="en-US" dirty="0"/>
          </a:p>
        </p:txBody>
      </p:sp>
      <p:cxnSp>
        <p:nvCxnSpPr>
          <p:cNvPr id="14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5" name="Picture 14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0DDA3229-FBA2-3387-A613-B082F9EB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710" y="2832589"/>
            <a:ext cx="5537160" cy="3075928"/>
          </a:xfrm>
          <a:prstGeom prst="rect">
            <a:avLst/>
          </a:prstGeom>
        </p:spPr>
      </p:pic>
      <p:pic>
        <p:nvPicPr>
          <p:cNvPr id="16" name="Picture 15" descr="A table with text on it&#10;&#10;AI-generated content may be incorrect.">
            <a:extLst>
              <a:ext uri="{FF2B5EF4-FFF2-40B4-BE49-F238E27FC236}">
                <a16:creationId xmlns:a16="http://schemas.microsoft.com/office/drawing/2014/main" id="{468F6F03-B32C-A6B9-1679-56D3A100B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261" y="1482708"/>
            <a:ext cx="5559609" cy="97012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DE7B21-9BEC-D3A5-2460-CDAD2A562E9D}"/>
              </a:ext>
            </a:extLst>
          </p:cNvPr>
          <p:cNvCxnSpPr/>
          <p:nvPr/>
        </p:nvCxnSpPr>
        <p:spPr>
          <a:xfrm>
            <a:off x="6054065" y="1180214"/>
            <a:ext cx="0" cy="5273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标题 1"/>
          <p:cNvSpPr txBox="1"/>
          <p:nvPr/>
        </p:nvSpPr>
        <p:spPr>
          <a:xfrm rot="19935871" flipH="1" flipV="1">
            <a:off x="9548086" y="-2405314"/>
            <a:ext cx="5779457" cy="4810627"/>
          </a:xfrm>
          <a:custGeom>
            <a:avLst/>
            <a:gdLst>
              <a:gd name="connsiteX0" fmla="*/ 23808 w 5779457"/>
              <a:gd name="connsiteY0" fmla="*/ 4074837 h 4810627"/>
              <a:gd name="connsiteX1" fmla="*/ 1739398 w 5779457"/>
              <a:gd name="connsiteY1" fmla="*/ 2009455 h 4810627"/>
              <a:gd name="connsiteX2" fmla="*/ 2756849 w 5779457"/>
              <a:gd name="connsiteY2" fmla="*/ 22449 h 4810627"/>
              <a:gd name="connsiteX3" fmla="*/ 4906715 w 5779457"/>
              <a:gd name="connsiteY3" fmla="*/ 1074895 h 4810627"/>
              <a:gd name="connsiteX4" fmla="*/ 4759820 w 5779457"/>
              <a:gd name="connsiteY4" fmla="*/ 2228620 h 4810627"/>
              <a:gd name="connsiteX5" fmla="*/ 5766942 w 5779457"/>
              <a:gd name="connsiteY5" fmla="*/ 3431528 h 4810627"/>
              <a:gd name="connsiteX6" fmla="*/ 4432691 w 5779457"/>
              <a:gd name="connsiteY6" fmla="*/ 4771837 h 4810627"/>
              <a:gd name="connsiteX7" fmla="*/ 1131249 w 5779457"/>
              <a:gd name="connsiteY7" fmla="*/ 4188049 h 4810627"/>
              <a:gd name="connsiteX8" fmla="*/ 23808 w 5779457"/>
              <a:gd name="connsiteY8" fmla="*/ 4074837 h 4810627"/>
            </a:gdLst>
            <a:ahLst/>
            <a:cxnLst/>
            <a:rect l="l" t="t" r="r" b="b"/>
            <a:pathLst>
              <a:path w="5779457" h="4810627">
                <a:moveTo>
                  <a:pt x="23808" y="4074837"/>
                </a:moveTo>
                <a:cubicBezTo>
                  <a:pt x="398760" y="2374246"/>
                  <a:pt x="1283891" y="2684853"/>
                  <a:pt x="1739398" y="2009455"/>
                </a:cubicBezTo>
                <a:cubicBezTo>
                  <a:pt x="2194905" y="1334057"/>
                  <a:pt x="2228963" y="178209"/>
                  <a:pt x="2756849" y="22449"/>
                </a:cubicBezTo>
                <a:cubicBezTo>
                  <a:pt x="3284735" y="-133311"/>
                  <a:pt x="4562528" y="554169"/>
                  <a:pt x="4906715" y="1074895"/>
                </a:cubicBezTo>
                <a:cubicBezTo>
                  <a:pt x="5250902" y="1595621"/>
                  <a:pt x="4616449" y="1835848"/>
                  <a:pt x="4759820" y="2228620"/>
                </a:cubicBezTo>
                <a:cubicBezTo>
                  <a:pt x="4903191" y="2621392"/>
                  <a:pt x="5684296" y="2901479"/>
                  <a:pt x="5766942" y="3431528"/>
                </a:cubicBezTo>
                <a:cubicBezTo>
                  <a:pt x="5849588" y="3961577"/>
                  <a:pt x="5536078" y="4560450"/>
                  <a:pt x="4432691" y="4771837"/>
                </a:cubicBezTo>
                <a:cubicBezTo>
                  <a:pt x="3706977" y="4977456"/>
                  <a:pt x="1866063" y="4304216"/>
                  <a:pt x="1131249" y="4188049"/>
                </a:cubicBezTo>
                <a:cubicBezTo>
                  <a:pt x="396435" y="4071882"/>
                  <a:pt x="-118916" y="4440113"/>
                  <a:pt x="23808" y="407483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1050776" flipH="1">
            <a:off x="-4527156" y="3006775"/>
            <a:ext cx="9259285" cy="8227275"/>
          </a:xfrm>
          <a:custGeom>
            <a:avLst/>
            <a:gdLst>
              <a:gd name="connsiteX0" fmla="*/ 147978 w 5723542"/>
              <a:gd name="connsiteY0" fmla="*/ 4132960 h 5085615"/>
              <a:gd name="connsiteX1" fmla="*/ 1863568 w 5723542"/>
              <a:gd name="connsiteY1" fmla="*/ 2067578 h 5085615"/>
              <a:gd name="connsiteX2" fmla="*/ 2881019 w 5723542"/>
              <a:gd name="connsiteY2" fmla="*/ 80572 h 5085615"/>
              <a:gd name="connsiteX3" fmla="*/ 4985590 w 5723542"/>
              <a:gd name="connsiteY3" fmla="*/ 1125600 h 5085615"/>
              <a:gd name="connsiteX4" fmla="*/ 4883990 w 5723542"/>
              <a:gd name="connsiteY4" fmla="*/ 2286743 h 5085615"/>
              <a:gd name="connsiteX5" fmla="*/ 5609704 w 5723542"/>
              <a:gd name="connsiteY5" fmla="*/ 3012457 h 5085615"/>
              <a:gd name="connsiteX6" fmla="*/ 5246847 w 5723542"/>
              <a:gd name="connsiteY6" fmla="*/ 4057486 h 5085615"/>
              <a:gd name="connsiteX7" fmla="*/ 2831102 w 5723542"/>
              <a:gd name="connsiteY7" fmla="*/ 4994181 h 5085615"/>
              <a:gd name="connsiteX8" fmla="*/ 147978 w 5723542"/>
              <a:gd name="connsiteY8" fmla="*/ 4132960 h 5085615"/>
            </a:gdLst>
            <a:ahLst/>
            <a:cxnLst/>
            <a:rect l="l" t="t" r="r" b="b"/>
            <a:pathLst>
              <a:path w="5723542" h="5085615">
                <a:moveTo>
                  <a:pt x="147978" y="4132960"/>
                </a:moveTo>
                <a:cubicBezTo>
                  <a:pt x="-438410" y="2783354"/>
                  <a:pt x="838792" y="2763141"/>
                  <a:pt x="1863568" y="2067578"/>
                </a:cubicBezTo>
                <a:cubicBezTo>
                  <a:pt x="2888344" y="1372015"/>
                  <a:pt x="1728381" y="458729"/>
                  <a:pt x="2881019" y="80572"/>
                </a:cubicBezTo>
                <a:cubicBezTo>
                  <a:pt x="4033657" y="-297585"/>
                  <a:pt x="4651762" y="757905"/>
                  <a:pt x="4985590" y="1125600"/>
                </a:cubicBezTo>
                <a:cubicBezTo>
                  <a:pt x="5319419" y="1493295"/>
                  <a:pt x="4779971" y="1972267"/>
                  <a:pt x="4883990" y="2286743"/>
                </a:cubicBezTo>
                <a:cubicBezTo>
                  <a:pt x="4988009" y="2601219"/>
                  <a:pt x="5549228" y="2717333"/>
                  <a:pt x="5609704" y="3012457"/>
                </a:cubicBezTo>
                <a:cubicBezTo>
                  <a:pt x="5670180" y="3307581"/>
                  <a:pt x="5972561" y="3851867"/>
                  <a:pt x="5246847" y="4057486"/>
                </a:cubicBezTo>
                <a:cubicBezTo>
                  <a:pt x="4521133" y="4263105"/>
                  <a:pt x="3680913" y="4981602"/>
                  <a:pt x="2831102" y="4994181"/>
                </a:cubicBezTo>
                <a:cubicBezTo>
                  <a:pt x="1981291" y="5006760"/>
                  <a:pt x="734366" y="5482566"/>
                  <a:pt x="147978" y="413296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6724" y="1247377"/>
            <a:ext cx="10862176" cy="4886724"/>
          </a:xfrm>
          <a:prstGeom prst="roundRect">
            <a:avLst>
              <a:gd name="adj" fmla="val 4751"/>
            </a:avLst>
          </a:prstGeom>
          <a:solidFill>
            <a:schemeClr val="bg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8288" r="552"/>
          <a:stretch>
            <a:fillRect/>
          </a:stretch>
        </p:blipFill>
        <p:spPr>
          <a:xfrm>
            <a:off x="6662282" y="2709289"/>
            <a:ext cx="5525764" cy="33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1207523" y="1896568"/>
            <a:ext cx="3387338" cy="988128"/>
          </a:xfrm>
          <a:prstGeom prst="roundRect">
            <a:avLst/>
          </a:prstGeom>
          <a:solidFill>
            <a:schemeClr val="accent2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41860" y="1769569"/>
            <a:ext cx="1915740" cy="911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PART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68966" y="2098500"/>
            <a:ext cx="581228" cy="584264"/>
          </a:xfrm>
          <a:prstGeom prst="roundRect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171838" y="2319332"/>
            <a:ext cx="205894" cy="142598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748803" flipH="1" flipV="1">
            <a:off x="2130441" y="-2772041"/>
            <a:ext cx="5603911" cy="4273702"/>
          </a:xfrm>
          <a:custGeom>
            <a:avLst/>
            <a:gdLst>
              <a:gd name="connsiteX0" fmla="*/ 28347 w 5603911"/>
              <a:gd name="connsiteY0" fmla="*/ 4071831 h 4273702"/>
              <a:gd name="connsiteX1" fmla="*/ 1743937 w 5603911"/>
              <a:gd name="connsiteY1" fmla="*/ 2006449 h 4273702"/>
              <a:gd name="connsiteX2" fmla="*/ 2761388 w 5603911"/>
              <a:gd name="connsiteY2" fmla="*/ 19443 h 4273702"/>
              <a:gd name="connsiteX3" fmla="*/ 4865959 w 5603911"/>
              <a:gd name="connsiteY3" fmla="*/ 1064471 h 4273702"/>
              <a:gd name="connsiteX4" fmla="*/ 4764359 w 5603911"/>
              <a:gd name="connsiteY4" fmla="*/ 2225614 h 4273702"/>
              <a:gd name="connsiteX5" fmla="*/ 5490073 w 5603911"/>
              <a:gd name="connsiteY5" fmla="*/ 2951328 h 4273702"/>
              <a:gd name="connsiteX6" fmla="*/ 5127216 w 5603911"/>
              <a:gd name="connsiteY6" fmla="*/ 3996357 h 4273702"/>
              <a:gd name="connsiteX7" fmla="*/ 1135788 w 5603911"/>
              <a:gd name="connsiteY7" fmla="*/ 4185043 h 4273702"/>
              <a:gd name="connsiteX8" fmla="*/ 28347 w 5603911"/>
              <a:gd name="connsiteY8" fmla="*/ 4071831 h 4273702"/>
            </a:gdLst>
            <a:ahLst/>
            <a:cxnLst/>
            <a:rect l="l" t="t" r="r" b="b"/>
            <a:pathLst>
              <a:path w="5603911" h="4273702">
                <a:moveTo>
                  <a:pt x="28347" y="4071831"/>
                </a:moveTo>
                <a:cubicBezTo>
                  <a:pt x="403299" y="2371240"/>
                  <a:pt x="1288430" y="2681847"/>
                  <a:pt x="1743937" y="2006449"/>
                </a:cubicBezTo>
                <a:cubicBezTo>
                  <a:pt x="2199444" y="1331051"/>
                  <a:pt x="2241051" y="176439"/>
                  <a:pt x="2761388" y="19443"/>
                </a:cubicBezTo>
                <a:cubicBezTo>
                  <a:pt x="3281725" y="-137553"/>
                  <a:pt x="4532131" y="696776"/>
                  <a:pt x="4865959" y="1064471"/>
                </a:cubicBezTo>
                <a:cubicBezTo>
                  <a:pt x="5199788" y="1432166"/>
                  <a:pt x="4660340" y="1911138"/>
                  <a:pt x="4764359" y="2225614"/>
                </a:cubicBezTo>
                <a:cubicBezTo>
                  <a:pt x="4868378" y="2540090"/>
                  <a:pt x="5429597" y="2656204"/>
                  <a:pt x="5490073" y="2951328"/>
                </a:cubicBezTo>
                <a:cubicBezTo>
                  <a:pt x="5550549" y="3246452"/>
                  <a:pt x="5852930" y="3790738"/>
                  <a:pt x="5127216" y="3996357"/>
                </a:cubicBezTo>
                <a:cubicBezTo>
                  <a:pt x="4401502" y="4201976"/>
                  <a:pt x="1985599" y="4172464"/>
                  <a:pt x="1135788" y="4185043"/>
                </a:cubicBezTo>
                <a:cubicBezTo>
                  <a:pt x="285977" y="4197622"/>
                  <a:pt x="-114377" y="4437107"/>
                  <a:pt x="28347" y="407183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37180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1388827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099056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11150703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860931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10912578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8795937" flipV="1">
            <a:off x="697676" y="4552977"/>
            <a:ext cx="1945031" cy="2297530"/>
          </a:xfrm>
          <a:custGeom>
            <a:avLst/>
            <a:gdLst>
              <a:gd name="connsiteX0" fmla="*/ 1416699 w 1945031"/>
              <a:gd name="connsiteY0" fmla="*/ 0 h 2297530"/>
              <a:gd name="connsiteX1" fmla="*/ 1361827 w 1945031"/>
              <a:gd name="connsiteY1" fmla="*/ 50273 h 2297530"/>
              <a:gd name="connsiteX2" fmla="*/ 1008262 w 1945031"/>
              <a:gd name="connsiteY2" fmla="*/ 1046675 h 2297530"/>
              <a:gd name="connsiteX3" fmla="*/ 10296 w 1945031"/>
              <a:gd name="connsiteY3" fmla="*/ 2248118 h 2297530"/>
              <a:gd name="connsiteX4" fmla="*/ 0 w 1945031"/>
              <a:gd name="connsiteY4" fmla="*/ 2297530 h 2297530"/>
              <a:gd name="connsiteX5" fmla="*/ 1830382 w 1945031"/>
              <a:gd name="connsiteY5" fmla="*/ 1090567 h 2297530"/>
              <a:gd name="connsiteX6" fmla="*/ 1902887 w 1945031"/>
              <a:gd name="connsiteY6" fmla="*/ 737314 h 2297530"/>
            </a:gdLst>
            <a:ahLst/>
            <a:cxnLst/>
            <a:rect l="l" t="t" r="r" b="b"/>
            <a:pathLst>
              <a:path w="1945031" h="2297530">
                <a:moveTo>
                  <a:pt x="1416699" y="0"/>
                </a:moveTo>
                <a:lnTo>
                  <a:pt x="1361827" y="50273"/>
                </a:lnTo>
                <a:cubicBezTo>
                  <a:pt x="1126997" y="302966"/>
                  <a:pt x="1299173" y="649343"/>
                  <a:pt x="1008262" y="1046675"/>
                </a:cubicBezTo>
                <a:cubicBezTo>
                  <a:pt x="650219" y="1535700"/>
                  <a:pt x="228407" y="1258876"/>
                  <a:pt x="10296" y="2248118"/>
                </a:cubicBezTo>
                <a:lnTo>
                  <a:pt x="0" y="2297530"/>
                </a:lnTo>
                <a:lnTo>
                  <a:pt x="1830382" y="1090567"/>
                </a:lnTo>
                <a:cubicBezTo>
                  <a:pt x="1947952" y="1013041"/>
                  <a:pt x="1980414" y="854884"/>
                  <a:pt x="1902887" y="7373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12834" y="3147108"/>
            <a:ext cx="5192715" cy="16222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Model Development</a:t>
            </a:r>
            <a:endParaRPr kumimoji="1" lang="zh-CN" altLang="en-US" dirty="0"/>
          </a:p>
        </p:txBody>
      </p:sp>
      <p:sp>
        <p:nvSpPr>
          <p:cNvPr id="21" name="标题 1"/>
          <p:cNvSpPr txBox="1"/>
          <p:nvPr/>
        </p:nvSpPr>
        <p:spPr>
          <a:xfrm>
            <a:off x="1695450" y="5028901"/>
            <a:ext cx="2880000" cy="36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128075" y="5001901"/>
            <a:ext cx="1047118" cy="9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533993" y="508557"/>
            <a:ext cx="1915740" cy="21729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02</a:t>
            </a:r>
            <a:endParaRPr kumimoji="1" lang="zh-CN" altLang="en-US" dirty="0"/>
          </a:p>
        </p:txBody>
      </p:sp>
      <p:sp>
        <p:nvSpPr>
          <p:cNvPr id="24" name="标题 1"/>
          <p:cNvSpPr txBox="1"/>
          <p:nvPr/>
        </p:nvSpPr>
        <p:spPr>
          <a:xfrm>
            <a:off x="5081770" y="1074025"/>
            <a:ext cx="322474" cy="322474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Methodology</a:t>
            </a:r>
            <a:endParaRPr kumimoji="1" lang="zh-CN" altLang="en-US" dirty="0"/>
          </a:p>
        </p:txBody>
      </p:sp>
      <p:cxnSp>
        <p:nvCxnSpPr>
          <p:cNvPr id="22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29" name="Picture 28" descr="A diagram of a model&#10;&#10;AI-generated content may be incorrect.">
            <a:extLst>
              <a:ext uri="{FF2B5EF4-FFF2-40B4-BE49-F238E27FC236}">
                <a16:creationId xmlns:a16="http://schemas.microsoft.com/office/drawing/2014/main" id="{515250A7-5164-44F0-35CF-D63C4FBB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047" y="3942983"/>
            <a:ext cx="7197906" cy="2001634"/>
          </a:xfrm>
          <a:prstGeom prst="rect">
            <a:avLst/>
          </a:prstGeom>
        </p:spPr>
      </p:pic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4AB74935-C444-A4F1-DF31-6409D188C3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950935"/>
              </p:ext>
            </p:extLst>
          </p:nvPr>
        </p:nvGraphicFramePr>
        <p:xfrm>
          <a:off x="1832610" y="451906"/>
          <a:ext cx="8128000" cy="420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1" name="标题 1">
            <a:extLst>
              <a:ext uri="{FF2B5EF4-FFF2-40B4-BE49-F238E27FC236}">
                <a16:creationId xmlns:a16="http://schemas.microsoft.com/office/drawing/2014/main" id="{3CC01F6E-1204-A4D0-33F2-1F6264C246A0}"/>
              </a:ext>
            </a:extLst>
          </p:cNvPr>
          <p:cNvSpPr txBox="1"/>
          <p:nvPr/>
        </p:nvSpPr>
        <p:spPr>
          <a:xfrm>
            <a:off x="0" y="19669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Machine Learning Based Approach</a:t>
            </a:r>
            <a:endParaRPr kumimoji="1" lang="zh-CN" altLang="en-US" dirty="0"/>
          </a:p>
        </p:txBody>
      </p:sp>
      <p:cxnSp>
        <p:nvCxnSpPr>
          <p:cNvPr id="14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85CF093-86B0-CF92-F0DD-8DB257B75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327960"/>
              </p:ext>
            </p:extLst>
          </p:nvPr>
        </p:nvGraphicFramePr>
        <p:xfrm>
          <a:off x="-644776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 descr="A table with text on it&#10;&#10;AI-generated content may be incorrect.">
            <a:extLst>
              <a:ext uri="{FF2B5EF4-FFF2-40B4-BE49-F238E27FC236}">
                <a16:creationId xmlns:a16="http://schemas.microsoft.com/office/drawing/2014/main" id="{A9C2B87A-EDA6-B2B8-F2CC-17FF94E7B9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7107" y="2554287"/>
            <a:ext cx="5507501" cy="2230364"/>
          </a:xfrm>
          <a:prstGeom prst="rect">
            <a:avLst/>
          </a:prstGeom>
        </p:spPr>
      </p:pic>
      <p:sp>
        <p:nvSpPr>
          <p:cNvPr id="19" name="标题 1">
            <a:extLst>
              <a:ext uri="{FF2B5EF4-FFF2-40B4-BE49-F238E27FC236}">
                <a16:creationId xmlns:a16="http://schemas.microsoft.com/office/drawing/2014/main" id="{E4017802-4BF8-50AE-626A-ED4ED7776FCD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9800000" flipH="1">
            <a:off x="6381802" y="2884834"/>
            <a:ext cx="544010" cy="2650603"/>
          </a:xfrm>
          <a:prstGeom prst="roundRect">
            <a:avLst>
              <a:gd name="adj" fmla="val 50000"/>
            </a:avLst>
          </a:prstGeom>
          <a:gradFill>
            <a:gsLst>
              <a:gs pos="1000">
                <a:schemeClr val="accent2">
                  <a:alpha val="0"/>
                </a:schemeClr>
              </a:gs>
              <a:gs pos="100000">
                <a:schemeClr val="accent2">
                  <a:alpha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800000" flipH="1" flipV="1">
            <a:off x="5321097" y="2884834"/>
            <a:ext cx="544010" cy="265060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6200000" flipH="1" flipV="1">
            <a:off x="5833161" y="3767286"/>
            <a:ext cx="544010" cy="265060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800000">
            <a:off x="5684565" y="2939503"/>
            <a:ext cx="896432" cy="89643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50800" dist="38100" dir="8100000" algn="tr" rotWithShape="0">
              <a:schemeClr val="accent2">
                <a:lumMod val="75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9800000" flipH="1">
            <a:off x="4712072" y="4644372"/>
            <a:ext cx="896432" cy="89643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50800" dist="38100" dir="8100000" algn="tr" rotWithShape="0">
              <a:schemeClr val="accent2">
                <a:lumMod val="75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 rot="1800000" flipH="1" flipV="1">
            <a:off x="5577010" y="3852982"/>
            <a:ext cx="0" cy="743712"/>
          </a:xfrm>
          <a:prstGeom prst="straightConnector1">
            <a:avLst/>
          </a:prstGeom>
          <a:noFill/>
          <a:ln w="9525" cap="sq">
            <a:solidFill>
              <a:schemeClr val="accent2"/>
            </a:solidFill>
            <a:miter/>
            <a:tailEnd type="triangle"/>
          </a:ln>
        </p:spPr>
      </p:cxnSp>
      <p:cxnSp>
        <p:nvCxnSpPr>
          <p:cNvPr id="9" name="标题 1"/>
          <p:cNvCxnSpPr/>
          <p:nvPr/>
        </p:nvCxnSpPr>
        <p:spPr>
          <a:xfrm rot="19800000" flipH="1">
            <a:off x="6680384" y="3852983"/>
            <a:ext cx="0" cy="743712"/>
          </a:xfrm>
          <a:prstGeom prst="straightConnector1">
            <a:avLst/>
          </a:prstGeom>
          <a:noFill/>
          <a:ln w="9525" cap="sq">
            <a:solidFill>
              <a:schemeClr val="accent2"/>
            </a:solidFill>
            <a:miter/>
            <a:tailEnd type="triangle"/>
          </a:ln>
        </p:spPr>
      </p:cxnSp>
      <p:cxnSp>
        <p:nvCxnSpPr>
          <p:cNvPr id="10" name="标题 1"/>
          <p:cNvCxnSpPr/>
          <p:nvPr/>
        </p:nvCxnSpPr>
        <p:spPr>
          <a:xfrm rot="5400000" flipH="1">
            <a:off x="6125649" y="4749095"/>
            <a:ext cx="0" cy="743712"/>
          </a:xfrm>
          <a:prstGeom prst="straightConnector1">
            <a:avLst/>
          </a:prstGeom>
          <a:noFill/>
          <a:ln w="9525" cap="sq">
            <a:solidFill>
              <a:schemeClr val="accent2"/>
            </a:solidFill>
            <a:miter/>
            <a:tailEnd type="triangle"/>
          </a:ln>
        </p:spPr>
      </p:cxnSp>
      <p:sp>
        <p:nvSpPr>
          <p:cNvPr id="11" name="标题 1"/>
          <p:cNvSpPr txBox="1"/>
          <p:nvPr/>
        </p:nvSpPr>
        <p:spPr>
          <a:xfrm>
            <a:off x="5951918" y="3208775"/>
            <a:ext cx="361726" cy="36172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014057" y="4954118"/>
            <a:ext cx="292462" cy="31680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9800000" flipH="1">
            <a:off x="6607928" y="4644372"/>
            <a:ext cx="896432" cy="89643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50800" dist="38100" dir="8100000" algn="tr" rotWithShape="0">
              <a:schemeClr val="accent2">
                <a:lumMod val="75000"/>
                <a:alpha val="21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875281" y="4928614"/>
            <a:ext cx="361726" cy="32794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914235" y="2028323"/>
            <a:ext cx="4470640" cy="8039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Configembed_dim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=512, </a:t>
            </a:r>
            <a:r>
              <a:rPr kumimoji="1" lang="en-US" altLang="zh-CN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hidden_dim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=256, layers=2.</a:t>
            </a:r>
            <a:endParaRPr kumimoji="1" lang="zh-CN" altLang="en-US" dirty="0"/>
          </a:p>
        </p:txBody>
      </p:sp>
      <p:sp>
        <p:nvSpPr>
          <p:cNvPr id="16" name="标题 1"/>
          <p:cNvSpPr txBox="1"/>
          <p:nvPr/>
        </p:nvSpPr>
        <p:spPr>
          <a:xfrm>
            <a:off x="3914235" y="1581713"/>
            <a:ext cx="4470640" cy="4470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Configuration Details</a:t>
            </a:r>
            <a:endParaRPr kumimoji="1" lang="zh-CN" altLang="en-US" sz="2200" dirty="0"/>
          </a:p>
        </p:txBody>
      </p:sp>
      <p:sp>
        <p:nvSpPr>
          <p:cNvPr id="17" name="标题 1"/>
          <p:cNvSpPr txBox="1"/>
          <p:nvPr/>
        </p:nvSpPr>
        <p:spPr>
          <a:xfrm>
            <a:off x="660400" y="5021689"/>
            <a:ext cx="3842589" cy="8039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Train/Val/Test = 70/15/15.</a:t>
            </a:r>
            <a:endParaRPr kumimoji="1" lang="zh-CN" altLang="en-US" dirty="0"/>
          </a:p>
        </p:txBody>
      </p:sp>
      <p:sp>
        <p:nvSpPr>
          <p:cNvPr id="18" name="标题 1"/>
          <p:cNvSpPr txBox="1"/>
          <p:nvPr/>
        </p:nvSpPr>
        <p:spPr>
          <a:xfrm>
            <a:off x="660400" y="4575079"/>
            <a:ext cx="3842589" cy="4470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5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Training Split</a:t>
            </a:r>
            <a:endParaRPr kumimoji="1" lang="zh-CN" altLang="en-US" sz="2200" dirty="0"/>
          </a:p>
        </p:txBody>
      </p:sp>
      <p:sp>
        <p:nvSpPr>
          <p:cNvPr id="19" name="标题 1"/>
          <p:cNvSpPr txBox="1"/>
          <p:nvPr/>
        </p:nvSpPr>
        <p:spPr>
          <a:xfrm>
            <a:off x="7676311" y="5021689"/>
            <a:ext cx="3842589" cy="8039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Bidirectional=True, Max pooling.</a:t>
            </a:r>
            <a:endParaRPr kumimoji="1" lang="zh-CN" altLang="en-US" dirty="0"/>
          </a:p>
        </p:txBody>
      </p:sp>
      <p:sp>
        <p:nvSpPr>
          <p:cNvPr id="20" name="标题 1"/>
          <p:cNvSpPr txBox="1"/>
          <p:nvPr/>
        </p:nvSpPr>
        <p:spPr>
          <a:xfrm>
            <a:off x="7676311" y="4575079"/>
            <a:ext cx="3842589" cy="4470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Bidirectional and Pooling</a:t>
            </a:r>
            <a:endParaRPr kumimoji="1" lang="zh-CN" altLang="en-US" sz="2200" dirty="0"/>
          </a:p>
        </p:txBody>
      </p:sp>
      <p:sp>
        <p:nvSpPr>
          <p:cNvPr id="21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3200" b="1" kern="100" dirty="0"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Deep Learning – RNN, GRU, LSTM Approaches</a:t>
            </a:r>
            <a:endParaRPr lang="en-SG" sz="3200" b="1" kern="100" dirty="0"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32933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V="1">
            <a:off x="-492657" y="5600535"/>
            <a:ext cx="13177314" cy="511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091669" y="2211403"/>
            <a:ext cx="8240486" cy="3434653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508000" sx="101000" sy="10100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749691" y="2446219"/>
            <a:ext cx="7192949" cy="7807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Performance</a:t>
            </a:r>
            <a:endParaRPr kumimoji="1" lang="zh-CN" altLang="en-US" sz="2200" dirty="0"/>
          </a:p>
        </p:txBody>
      </p:sp>
      <p:sp>
        <p:nvSpPr>
          <p:cNvPr id="6" name="标题 1"/>
          <p:cNvSpPr txBox="1"/>
          <p:nvPr/>
        </p:nvSpPr>
        <p:spPr>
          <a:xfrm>
            <a:off x="2749692" y="3328755"/>
            <a:ext cx="2613188" cy="19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Results Accuracy ~84%, GRU &amp; LSTM ≈ RNN.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2091669" y="2211404"/>
            <a:ext cx="61761" cy="518754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859845" y="1976589"/>
            <a:ext cx="1276350" cy="46963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  <a:effectLst>
            <a:outerShdw blurRad="508000" sx="101000" sy="10100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145687" y="2125266"/>
            <a:ext cx="704666" cy="172276"/>
          </a:xfrm>
          <a:custGeom>
            <a:avLst/>
            <a:gdLst>
              <a:gd name="connsiteX0" fmla="*/ 428294 w 529758"/>
              <a:gd name="connsiteY0" fmla="*/ 0 h 138037"/>
              <a:gd name="connsiteX1" fmla="*/ 529758 w 529758"/>
              <a:gd name="connsiteY1" fmla="*/ 0 h 138037"/>
              <a:gd name="connsiteX2" fmla="*/ 442461 w 529758"/>
              <a:gd name="connsiteY2" fmla="*/ 138037 h 138037"/>
              <a:gd name="connsiteX3" fmla="*/ 340997 w 529758"/>
              <a:gd name="connsiteY3" fmla="*/ 138037 h 138037"/>
              <a:gd name="connsiteX4" fmla="*/ 257796 w 529758"/>
              <a:gd name="connsiteY4" fmla="*/ 0 h 138037"/>
              <a:gd name="connsiteX5" fmla="*/ 359260 w 529758"/>
              <a:gd name="connsiteY5" fmla="*/ 0 h 138037"/>
              <a:gd name="connsiteX6" fmla="*/ 271963 w 529758"/>
              <a:gd name="connsiteY6" fmla="*/ 138037 h 138037"/>
              <a:gd name="connsiteX7" fmla="*/ 170499 w 529758"/>
              <a:gd name="connsiteY7" fmla="*/ 138037 h 138037"/>
              <a:gd name="connsiteX8" fmla="*/ 87297 w 529758"/>
              <a:gd name="connsiteY8" fmla="*/ 0 h 138037"/>
              <a:gd name="connsiteX9" fmla="*/ 188761 w 529758"/>
              <a:gd name="connsiteY9" fmla="*/ 0 h 138037"/>
              <a:gd name="connsiteX10" fmla="*/ 101464 w 529758"/>
              <a:gd name="connsiteY10" fmla="*/ 138037 h 138037"/>
              <a:gd name="connsiteX11" fmla="*/ 0 w 529758"/>
              <a:gd name="connsiteY11" fmla="*/ 138037 h 138037"/>
            </a:gdLst>
            <a:ahLst/>
            <a:cxnLst/>
            <a:rect l="l" t="t" r="r" b="b"/>
            <a:pathLst>
              <a:path w="529758" h="138037">
                <a:moveTo>
                  <a:pt x="428294" y="0"/>
                </a:moveTo>
                <a:lnTo>
                  <a:pt x="529758" y="0"/>
                </a:lnTo>
                <a:lnTo>
                  <a:pt x="442461" y="138037"/>
                </a:lnTo>
                <a:lnTo>
                  <a:pt x="340997" y="138037"/>
                </a:lnTo>
                <a:close/>
                <a:moveTo>
                  <a:pt x="257796" y="0"/>
                </a:moveTo>
                <a:lnTo>
                  <a:pt x="359260" y="0"/>
                </a:lnTo>
                <a:lnTo>
                  <a:pt x="271963" y="138037"/>
                </a:lnTo>
                <a:lnTo>
                  <a:pt x="170499" y="138037"/>
                </a:lnTo>
                <a:close/>
                <a:moveTo>
                  <a:pt x="87297" y="0"/>
                </a:moveTo>
                <a:lnTo>
                  <a:pt x="188761" y="0"/>
                </a:lnTo>
                <a:lnTo>
                  <a:pt x="101464" y="138037"/>
                </a:lnTo>
                <a:lnTo>
                  <a:pt x="0" y="138037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0270394" y="-60244"/>
            <a:ext cx="61761" cy="570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3200" b="1" kern="100" dirty="0"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Deep Learning – RNN, GRU, LSTM Approaches</a:t>
            </a:r>
            <a:endParaRPr lang="en-SG" sz="3200" b="1" kern="100" dirty="0"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3" name="Picture 1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2D11ACD-1DF7-884C-6DAB-5EFA7C60D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771" y="2354772"/>
            <a:ext cx="3009556" cy="31449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Deep Learning – CNN Approaches</a:t>
            </a:r>
            <a:endParaRPr kumimoji="1" lang="zh-CN" altLang="en-US" dirty="0"/>
          </a:p>
        </p:txBody>
      </p:sp>
      <p:cxnSp>
        <p:nvCxnSpPr>
          <p:cNvPr id="16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7AC9DD8D-2EEE-718D-274B-EE60F0F7C0DA}"/>
              </a:ext>
            </a:extLst>
          </p:cNvPr>
          <p:cNvSpPr txBox="1"/>
          <p:nvPr/>
        </p:nvSpPr>
        <p:spPr>
          <a:xfrm>
            <a:off x="660400" y="1980281"/>
            <a:ext cx="3337529" cy="3810000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4" name="标题 1">
            <a:extLst>
              <a:ext uri="{FF2B5EF4-FFF2-40B4-BE49-F238E27FC236}">
                <a16:creationId xmlns:a16="http://schemas.microsoft.com/office/drawing/2014/main" id="{8DBFBFCF-C512-502E-9EFE-842944CFC596}"/>
              </a:ext>
            </a:extLst>
          </p:cNvPr>
          <p:cNvCxnSpPr/>
          <p:nvPr/>
        </p:nvCxnSpPr>
        <p:spPr>
          <a:xfrm>
            <a:off x="2178382" y="2666171"/>
            <a:ext cx="301566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71D83ED7-7080-625A-2F44-D878514ED076}"/>
              </a:ext>
            </a:extLst>
          </p:cNvPr>
          <p:cNvSpPr txBox="1"/>
          <p:nvPr/>
        </p:nvSpPr>
        <p:spPr>
          <a:xfrm>
            <a:off x="1168401" y="2815825"/>
            <a:ext cx="2321528" cy="74560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CNN Architecture</a:t>
            </a:r>
            <a:endParaRPr kumimoji="1" lang="zh-CN" altLang="en-US" sz="22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720581A-CC72-0E99-54CD-D18C76A8B609}"/>
              </a:ext>
            </a:extLst>
          </p:cNvPr>
          <p:cNvSpPr txBox="1"/>
          <p:nvPr/>
        </p:nvSpPr>
        <p:spPr>
          <a:xfrm>
            <a:off x="1095983" y="3653349"/>
            <a:ext cx="2466368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CNN captures local  features.</a:t>
            </a:r>
            <a:endParaRPr kumimoji="1" lang="zh-CN" altLang="en-US" dirty="0"/>
          </a:p>
        </p:txBody>
      </p:sp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EBEAF1A-F27B-F6EC-48C5-B380CB3E4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30" y="3188628"/>
            <a:ext cx="6131915" cy="2753638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7F232054-C898-EF95-F52C-9889C0FB8233}"/>
              </a:ext>
            </a:extLst>
          </p:cNvPr>
          <p:cNvSpPr txBox="1"/>
          <p:nvPr/>
        </p:nvSpPr>
        <p:spPr>
          <a:xfrm>
            <a:off x="5258430" y="1336829"/>
            <a:ext cx="7192949" cy="7807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Performance</a:t>
            </a:r>
            <a:endParaRPr kumimoji="1" lang="zh-CN" altLang="en-US" sz="2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5FF7B29-4F86-2620-42A7-6BC82F3D5958}"/>
              </a:ext>
            </a:extLst>
          </p:cNvPr>
          <p:cNvSpPr txBox="1"/>
          <p:nvPr/>
        </p:nvSpPr>
        <p:spPr>
          <a:xfrm>
            <a:off x="5258430" y="2219366"/>
            <a:ext cx="4937130" cy="7807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Results Accuracy ~82.88%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underperforms RNN models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598F-2F5F-20A4-EA20-4C074F240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33485528-F675-4369-7A4D-EBB18F538E8A}"/>
              </a:ext>
            </a:extLst>
          </p:cNvPr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Deep Learning – CNN Approaches</a:t>
            </a:r>
            <a:endParaRPr kumimoji="1" lang="zh-CN" altLang="en-US" dirty="0"/>
          </a:p>
        </p:txBody>
      </p:sp>
      <p:cxnSp>
        <p:nvCxnSpPr>
          <p:cNvPr id="16" name="标题 1">
            <a:extLst>
              <a:ext uri="{FF2B5EF4-FFF2-40B4-BE49-F238E27FC236}">
                <a16:creationId xmlns:a16="http://schemas.microsoft.com/office/drawing/2014/main" id="{710F4CF5-C510-C64A-652B-1715BBE6AE62}"/>
              </a:ext>
            </a:extLst>
          </p:cNvPr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5FF803F-279E-74E7-34CD-978402F32782}"/>
              </a:ext>
            </a:extLst>
          </p:cNvPr>
          <p:cNvSpPr txBox="1"/>
          <p:nvPr/>
        </p:nvSpPr>
        <p:spPr>
          <a:xfrm flipV="1">
            <a:off x="801655" y="1938216"/>
            <a:ext cx="3337529" cy="3810000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0" name="标题 1">
            <a:extLst>
              <a:ext uri="{FF2B5EF4-FFF2-40B4-BE49-F238E27FC236}">
                <a16:creationId xmlns:a16="http://schemas.microsoft.com/office/drawing/2014/main" id="{9DF60A05-CFDA-9A38-E420-5BD4768CA149}"/>
              </a:ext>
            </a:extLst>
          </p:cNvPr>
          <p:cNvCxnSpPr/>
          <p:nvPr/>
        </p:nvCxnSpPr>
        <p:spPr>
          <a:xfrm>
            <a:off x="2319636" y="2624106"/>
            <a:ext cx="301566" cy="0"/>
          </a:xfrm>
          <a:prstGeom prst="line">
            <a:avLst/>
          </a:prstGeom>
          <a:noFill/>
          <a:ln w="12700" cap="rnd">
            <a:solidFill>
              <a:schemeClr val="bg1"/>
            </a:solidFill>
            <a:round/>
          </a:ln>
        </p:spPr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F429CD6D-1CAC-C210-7DC0-A09A40D0E27F}"/>
              </a:ext>
            </a:extLst>
          </p:cNvPr>
          <p:cNvSpPr txBox="1"/>
          <p:nvPr/>
        </p:nvSpPr>
        <p:spPr>
          <a:xfrm>
            <a:off x="1309655" y="2773760"/>
            <a:ext cx="2321528" cy="74560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Hybrid Model Architecture</a:t>
            </a:r>
            <a:endParaRPr kumimoji="1" lang="zh-CN" altLang="en-US" sz="2200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9241D98F-E56E-304D-893E-F44563D61B99}"/>
              </a:ext>
            </a:extLst>
          </p:cNvPr>
          <p:cNvSpPr txBox="1"/>
          <p:nvPr/>
        </p:nvSpPr>
        <p:spPr>
          <a:xfrm>
            <a:off x="1206590" y="3611284"/>
            <a:ext cx="2527660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Hybrid CNN + GRU/LSTM.</a:t>
            </a:r>
            <a:endParaRPr kumimoji="1" lang="zh-CN" altLang="en-US" dirty="0"/>
          </a:p>
        </p:txBody>
      </p:sp>
      <p:pic>
        <p:nvPicPr>
          <p:cNvPr id="13" name="Picture 1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97729477-CE9B-9750-991B-3990193F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430" y="3024129"/>
            <a:ext cx="5623915" cy="2994241"/>
          </a:xfrm>
          <a:prstGeom prst="rect">
            <a:avLst/>
          </a:prstGeom>
        </p:spPr>
      </p:pic>
      <p:sp>
        <p:nvSpPr>
          <p:cNvPr id="14" name="标题 1">
            <a:extLst>
              <a:ext uri="{FF2B5EF4-FFF2-40B4-BE49-F238E27FC236}">
                <a16:creationId xmlns:a16="http://schemas.microsoft.com/office/drawing/2014/main" id="{66732897-56E9-827B-54DA-BB803B896721}"/>
              </a:ext>
            </a:extLst>
          </p:cNvPr>
          <p:cNvSpPr txBox="1"/>
          <p:nvPr/>
        </p:nvSpPr>
        <p:spPr>
          <a:xfrm>
            <a:off x="5252231" y="1250465"/>
            <a:ext cx="7192949" cy="7807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Performance</a:t>
            </a:r>
            <a:endParaRPr kumimoji="1" lang="zh-CN" altLang="en-US" sz="2200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06C0363-8EDD-7717-80A6-8B0E66093733}"/>
              </a:ext>
            </a:extLst>
          </p:cNvPr>
          <p:cNvSpPr txBox="1"/>
          <p:nvPr/>
        </p:nvSpPr>
        <p:spPr>
          <a:xfrm>
            <a:off x="5252231" y="2133001"/>
            <a:ext cx="7192949" cy="19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Results Accuracy ~83.36%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still underperforms RNN-only models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686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2649-34D4-CE9B-6F9B-66AD1836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9B513291-3ADF-8420-C8FE-545E5A3CF739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6FAA743-0259-76C9-B08A-E4A2BF2A98F6}"/>
              </a:ext>
            </a:extLst>
          </p:cNvPr>
          <p:cNvSpPr txBox="1"/>
          <p:nvPr/>
        </p:nvSpPr>
        <p:spPr>
          <a:xfrm>
            <a:off x="0" y="2590492"/>
            <a:ext cx="7569843" cy="2110476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71EB86B-5B1D-88A6-405A-4C04F863B9A2}"/>
              </a:ext>
            </a:extLst>
          </p:cNvPr>
          <p:cNvSpPr txBox="1"/>
          <p:nvPr/>
        </p:nvSpPr>
        <p:spPr>
          <a:xfrm>
            <a:off x="660400" y="1758773"/>
            <a:ext cx="10858500" cy="359972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54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5B4EF68-3540-E72F-B759-CD39C2D9BB4A}"/>
              </a:ext>
            </a:extLst>
          </p:cNvPr>
          <p:cNvSpPr txBox="1"/>
          <p:nvPr/>
        </p:nvSpPr>
        <p:spPr>
          <a:xfrm>
            <a:off x="1271754" y="2030364"/>
            <a:ext cx="4961406" cy="73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Size and Performance Issues with BERT</a:t>
            </a:r>
            <a:endParaRPr kumimoji="1" lang="zh-CN" altLang="en-US" sz="2000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A118976-6435-474E-AE52-E0EB81D31508}"/>
              </a:ext>
            </a:extLst>
          </p:cNvPr>
          <p:cNvSpPr txBox="1"/>
          <p:nvPr/>
        </p:nvSpPr>
        <p:spPr>
          <a:xfrm>
            <a:off x="1271754" y="2673349"/>
            <a:ext cx="4536000" cy="4931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BERT too large → switched to </a:t>
            </a:r>
            <a:r>
              <a:rPr kumimoji="1" lang="en-US" altLang="zh-CN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DistilBERT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.</a:t>
            </a:r>
          </a:p>
          <a:p>
            <a:pPr algn="l">
              <a:lnSpc>
                <a:spcPct val="140000"/>
              </a:lnSpc>
            </a:pPr>
            <a:endParaRPr kumimoji="1" lang="zh-CN" alt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7055330-A496-FCA3-A24E-C67BBC981296}"/>
              </a:ext>
            </a:extLst>
          </p:cNvPr>
          <p:cNvSpPr txBox="1"/>
          <p:nvPr/>
        </p:nvSpPr>
        <p:spPr>
          <a:xfrm>
            <a:off x="6859226" y="2137044"/>
            <a:ext cx="4536000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Advantages of 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DistilBERT</a:t>
            </a:r>
            <a:endParaRPr kumimoji="1" lang="zh-CN" altLang="en-US" sz="2000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2AAD7B37-653E-826A-D0F9-9DD9372D6D54}"/>
              </a:ext>
            </a:extLst>
          </p:cNvPr>
          <p:cNvSpPr txBox="1"/>
          <p:nvPr/>
        </p:nvSpPr>
        <p:spPr>
          <a:xfrm>
            <a:off x="6859226" y="2780029"/>
            <a:ext cx="4536000" cy="4931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40% smaller, 60% faster, minimal accuracy loss.</a:t>
            </a:r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C6DD6E9-07FB-2C10-3E6B-18C5191A3AAC}"/>
              </a:ext>
            </a:extLst>
          </p:cNvPr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32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Pretrained Language Model – BERT Approaches</a:t>
            </a:r>
            <a:endParaRPr lang="en-SG" sz="32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标题 1">
            <a:extLst>
              <a:ext uri="{FF2B5EF4-FFF2-40B4-BE49-F238E27FC236}">
                <a16:creationId xmlns:a16="http://schemas.microsoft.com/office/drawing/2014/main" id="{9C519DAA-3970-DD70-C3E4-6AB755420448}"/>
              </a:ext>
            </a:extLst>
          </p:cNvPr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FE0844EC-66D2-B911-10EA-1DD658039842}"/>
              </a:ext>
            </a:extLst>
          </p:cNvPr>
          <p:cNvSpPr txBox="1"/>
          <p:nvPr/>
        </p:nvSpPr>
        <p:spPr>
          <a:xfrm>
            <a:off x="1271754" y="3558636"/>
            <a:ext cx="5099792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Training Optimization of </a:t>
            </a:r>
            <a:r>
              <a:rPr kumimoji="1" lang="en-US" altLang="zh-CN" sz="2000" dirty="0" err="1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withDistilBERT</a:t>
            </a:r>
            <a:endParaRPr kumimoji="1" lang="zh-CN" altLang="en-US" sz="20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4065644-3F29-B129-8DEF-77996A74B85C}"/>
              </a:ext>
            </a:extLst>
          </p:cNvPr>
          <p:cNvSpPr txBox="1"/>
          <p:nvPr/>
        </p:nvSpPr>
        <p:spPr>
          <a:xfrm>
            <a:off x="1271754" y="4134636"/>
            <a:ext cx="4536000" cy="4931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kumimoji="1"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B3695A9-FF92-941C-463A-0A655D754D6E}"/>
              </a:ext>
            </a:extLst>
          </p:cNvPr>
          <p:cNvSpPr txBox="1"/>
          <p:nvPr/>
        </p:nvSpPr>
        <p:spPr>
          <a:xfrm>
            <a:off x="1360610" y="4264854"/>
            <a:ext cx="5649790" cy="4931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Capped training at 5 epochs</a:t>
            </a:r>
          </a:p>
          <a:p>
            <a:pPr algn="l">
              <a:lnSpc>
                <a:spcPct val="14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Used </a:t>
            </a:r>
            <a:r>
              <a:rPr kumimoji="1" lang="en-US" altLang="zh-CN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GrapScaler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 for faster, memory efficient training</a:t>
            </a:r>
          </a:p>
        </p:txBody>
      </p:sp>
    </p:spTree>
    <p:extLst>
      <p:ext uri="{BB962C8B-B14F-4D97-AF65-F5344CB8AC3E}">
        <p14:creationId xmlns:p14="http://schemas.microsoft.com/office/powerpoint/2010/main" val="4015853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2F3B-DF17-2BC3-F779-6A6A4D4B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8CC0A-565D-FAFA-EC25-C80DD6C0D57E}"/>
              </a:ext>
            </a:extLst>
          </p:cNvPr>
          <p:cNvSpPr txBox="1"/>
          <p:nvPr/>
        </p:nvSpPr>
        <p:spPr>
          <a:xfrm>
            <a:off x="0" y="329335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F8B33D8-5CA9-2401-E4D5-6E5D66E5891E}"/>
              </a:ext>
            </a:extLst>
          </p:cNvPr>
          <p:cNvSpPr txBox="1"/>
          <p:nvPr/>
        </p:nvSpPr>
        <p:spPr>
          <a:xfrm flipV="1">
            <a:off x="-492657" y="5600535"/>
            <a:ext cx="13177314" cy="511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ED222E0-348D-A9B5-BACA-7A1A24283333}"/>
              </a:ext>
            </a:extLst>
          </p:cNvPr>
          <p:cNvSpPr txBox="1"/>
          <p:nvPr/>
        </p:nvSpPr>
        <p:spPr>
          <a:xfrm>
            <a:off x="2091669" y="2211403"/>
            <a:ext cx="8240486" cy="3434653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508000" sx="101000" sy="10100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E816290-37E9-C83A-35D8-2A0335B87988}"/>
              </a:ext>
            </a:extLst>
          </p:cNvPr>
          <p:cNvSpPr txBox="1"/>
          <p:nvPr/>
        </p:nvSpPr>
        <p:spPr>
          <a:xfrm>
            <a:off x="2300135" y="2463975"/>
            <a:ext cx="7192949" cy="7807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Performance</a:t>
            </a:r>
            <a:endParaRPr kumimoji="1" lang="zh-CN" altLang="en-US" sz="22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553F11B-A469-F7D1-E25E-61C47F9F44BA}"/>
              </a:ext>
            </a:extLst>
          </p:cNvPr>
          <p:cNvSpPr txBox="1"/>
          <p:nvPr/>
        </p:nvSpPr>
        <p:spPr>
          <a:xfrm>
            <a:off x="2300134" y="3339386"/>
            <a:ext cx="7192949" cy="19221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Results Accuracy ~86.63%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Best performing</a:t>
            </a:r>
            <a:endParaRPr kumimoji="1"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398BE93-0BC0-68E1-D8F1-E2921D284C63}"/>
              </a:ext>
            </a:extLst>
          </p:cNvPr>
          <p:cNvSpPr txBox="1"/>
          <p:nvPr/>
        </p:nvSpPr>
        <p:spPr>
          <a:xfrm>
            <a:off x="2091669" y="2211404"/>
            <a:ext cx="61761" cy="518754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281AD45-9039-0532-061E-6792397EEFA7}"/>
              </a:ext>
            </a:extLst>
          </p:cNvPr>
          <p:cNvSpPr txBox="1"/>
          <p:nvPr/>
        </p:nvSpPr>
        <p:spPr>
          <a:xfrm>
            <a:off x="1859845" y="1976589"/>
            <a:ext cx="1276350" cy="46963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  <a:effectLst>
            <a:outerShdw blurRad="508000" sx="101000" sy="101000" algn="ctr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C0B4028-3A1F-77CA-E635-F30FF59C96A6}"/>
              </a:ext>
            </a:extLst>
          </p:cNvPr>
          <p:cNvSpPr txBox="1"/>
          <p:nvPr/>
        </p:nvSpPr>
        <p:spPr>
          <a:xfrm>
            <a:off x="2145687" y="2125266"/>
            <a:ext cx="704666" cy="172276"/>
          </a:xfrm>
          <a:custGeom>
            <a:avLst/>
            <a:gdLst>
              <a:gd name="connsiteX0" fmla="*/ 428294 w 529758"/>
              <a:gd name="connsiteY0" fmla="*/ 0 h 138037"/>
              <a:gd name="connsiteX1" fmla="*/ 529758 w 529758"/>
              <a:gd name="connsiteY1" fmla="*/ 0 h 138037"/>
              <a:gd name="connsiteX2" fmla="*/ 442461 w 529758"/>
              <a:gd name="connsiteY2" fmla="*/ 138037 h 138037"/>
              <a:gd name="connsiteX3" fmla="*/ 340997 w 529758"/>
              <a:gd name="connsiteY3" fmla="*/ 138037 h 138037"/>
              <a:gd name="connsiteX4" fmla="*/ 257796 w 529758"/>
              <a:gd name="connsiteY4" fmla="*/ 0 h 138037"/>
              <a:gd name="connsiteX5" fmla="*/ 359260 w 529758"/>
              <a:gd name="connsiteY5" fmla="*/ 0 h 138037"/>
              <a:gd name="connsiteX6" fmla="*/ 271963 w 529758"/>
              <a:gd name="connsiteY6" fmla="*/ 138037 h 138037"/>
              <a:gd name="connsiteX7" fmla="*/ 170499 w 529758"/>
              <a:gd name="connsiteY7" fmla="*/ 138037 h 138037"/>
              <a:gd name="connsiteX8" fmla="*/ 87297 w 529758"/>
              <a:gd name="connsiteY8" fmla="*/ 0 h 138037"/>
              <a:gd name="connsiteX9" fmla="*/ 188761 w 529758"/>
              <a:gd name="connsiteY9" fmla="*/ 0 h 138037"/>
              <a:gd name="connsiteX10" fmla="*/ 101464 w 529758"/>
              <a:gd name="connsiteY10" fmla="*/ 138037 h 138037"/>
              <a:gd name="connsiteX11" fmla="*/ 0 w 529758"/>
              <a:gd name="connsiteY11" fmla="*/ 138037 h 138037"/>
            </a:gdLst>
            <a:ahLst/>
            <a:cxnLst/>
            <a:rect l="l" t="t" r="r" b="b"/>
            <a:pathLst>
              <a:path w="529758" h="138037">
                <a:moveTo>
                  <a:pt x="428294" y="0"/>
                </a:moveTo>
                <a:lnTo>
                  <a:pt x="529758" y="0"/>
                </a:lnTo>
                <a:lnTo>
                  <a:pt x="442461" y="138037"/>
                </a:lnTo>
                <a:lnTo>
                  <a:pt x="340997" y="138037"/>
                </a:lnTo>
                <a:close/>
                <a:moveTo>
                  <a:pt x="257796" y="0"/>
                </a:moveTo>
                <a:lnTo>
                  <a:pt x="359260" y="0"/>
                </a:lnTo>
                <a:lnTo>
                  <a:pt x="271963" y="138037"/>
                </a:lnTo>
                <a:lnTo>
                  <a:pt x="170499" y="138037"/>
                </a:lnTo>
                <a:close/>
                <a:moveTo>
                  <a:pt x="87297" y="0"/>
                </a:moveTo>
                <a:lnTo>
                  <a:pt x="188761" y="0"/>
                </a:lnTo>
                <a:lnTo>
                  <a:pt x="101464" y="138037"/>
                </a:lnTo>
                <a:lnTo>
                  <a:pt x="0" y="138037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5FFAA3E-F378-298C-809C-3D95B6BE9753}"/>
              </a:ext>
            </a:extLst>
          </p:cNvPr>
          <p:cNvSpPr txBox="1"/>
          <p:nvPr/>
        </p:nvSpPr>
        <p:spPr>
          <a:xfrm>
            <a:off x="10270394" y="-60244"/>
            <a:ext cx="61761" cy="57063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50456F3-A5E3-F6AE-0043-01DF505E220E}"/>
              </a:ext>
            </a:extLst>
          </p:cNvPr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32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Pretrained Language Model – BERT Approaches</a:t>
            </a:r>
            <a:endParaRPr lang="en-SG" sz="32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标题 1">
            <a:extLst>
              <a:ext uri="{FF2B5EF4-FFF2-40B4-BE49-F238E27FC236}">
                <a16:creationId xmlns:a16="http://schemas.microsoft.com/office/drawing/2014/main" id="{18217AEE-D97F-3AD8-4330-0706C8D05A0E}"/>
              </a:ext>
            </a:extLst>
          </p:cNvPr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F7CF42D-E810-3D36-FBC5-6606710C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686" y="2841232"/>
            <a:ext cx="5004710" cy="533355"/>
          </a:xfrm>
          <a:prstGeom prst="rect">
            <a:avLst/>
          </a:prstGeom>
        </p:spPr>
      </p:pic>
      <p:pic>
        <p:nvPicPr>
          <p:cNvPr id="15" name="Picture 1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C0DD456F-1B64-8AF4-915F-B3E4BF19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807" y="3049174"/>
            <a:ext cx="5004710" cy="127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76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8F3C-288D-7DB4-DFBD-86FB5877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1F8D92-5D9C-3A09-DD97-3245BFA83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861" y="2117558"/>
            <a:ext cx="6729085" cy="679557"/>
          </a:xfrm>
          <a:prstGeom prst="rect">
            <a:avLst/>
          </a:prstGeom>
        </p:spPr>
      </p:pic>
      <p:sp>
        <p:nvSpPr>
          <p:cNvPr id="21" name="标题 1">
            <a:extLst>
              <a:ext uri="{FF2B5EF4-FFF2-40B4-BE49-F238E27FC236}">
                <a16:creationId xmlns:a16="http://schemas.microsoft.com/office/drawing/2014/main" id="{9D309D94-41D4-FD5E-DD91-F3970440952F}"/>
              </a:ext>
            </a:extLst>
          </p:cNvPr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GB" sz="32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Pretrained Language Model – BERT Approaches</a:t>
            </a:r>
            <a:endParaRPr lang="en-SG" sz="32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标题 1">
            <a:extLst>
              <a:ext uri="{FF2B5EF4-FFF2-40B4-BE49-F238E27FC236}">
                <a16:creationId xmlns:a16="http://schemas.microsoft.com/office/drawing/2014/main" id="{7CFB93E8-B894-64CD-F695-8092F437F431}"/>
              </a:ext>
            </a:extLst>
          </p:cNvPr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68C0075B-4655-32FC-EDF8-2A76D5258E3E}"/>
              </a:ext>
            </a:extLst>
          </p:cNvPr>
          <p:cNvSpPr txBox="1"/>
          <p:nvPr/>
        </p:nvSpPr>
        <p:spPr>
          <a:xfrm>
            <a:off x="2499360" y="1437204"/>
            <a:ext cx="7482839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200" dirty="0" err="1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TinyBERT</a:t>
            </a:r>
            <a:r>
              <a:rPr kumimoji="1" lang="en-US" altLang="zh-CN" sz="2200" dirty="0">
                <a:ln w="12700">
                  <a:noFill/>
                </a:ln>
                <a:solidFill>
                  <a:srgbClr val="4666C9">
                    <a:alpha val="100000"/>
                  </a:srgbClr>
                </a:solidFill>
                <a:latin typeface="Source Han Sans CN Bold Bold"/>
                <a:ea typeface="Source Han Sans CN Bold Bold"/>
              </a:rPr>
              <a:t> Tested: faster, but lower accuracy</a:t>
            </a:r>
            <a:endParaRPr kumimoji="1" lang="zh-CN" alt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42070-EE76-A37C-89E4-2C6BDCB5B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360" y="2410118"/>
            <a:ext cx="67405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36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9935871" flipH="1" flipV="1">
            <a:off x="9548086" y="-2405314"/>
            <a:ext cx="5779457" cy="4810627"/>
          </a:xfrm>
          <a:custGeom>
            <a:avLst/>
            <a:gdLst>
              <a:gd name="connsiteX0" fmla="*/ 23808 w 5779457"/>
              <a:gd name="connsiteY0" fmla="*/ 4074837 h 4810627"/>
              <a:gd name="connsiteX1" fmla="*/ 1739398 w 5779457"/>
              <a:gd name="connsiteY1" fmla="*/ 2009455 h 4810627"/>
              <a:gd name="connsiteX2" fmla="*/ 2756849 w 5779457"/>
              <a:gd name="connsiteY2" fmla="*/ 22449 h 4810627"/>
              <a:gd name="connsiteX3" fmla="*/ 4906715 w 5779457"/>
              <a:gd name="connsiteY3" fmla="*/ 1074895 h 4810627"/>
              <a:gd name="connsiteX4" fmla="*/ 4759820 w 5779457"/>
              <a:gd name="connsiteY4" fmla="*/ 2228620 h 4810627"/>
              <a:gd name="connsiteX5" fmla="*/ 5766942 w 5779457"/>
              <a:gd name="connsiteY5" fmla="*/ 3431528 h 4810627"/>
              <a:gd name="connsiteX6" fmla="*/ 4432691 w 5779457"/>
              <a:gd name="connsiteY6" fmla="*/ 4771837 h 4810627"/>
              <a:gd name="connsiteX7" fmla="*/ 1131249 w 5779457"/>
              <a:gd name="connsiteY7" fmla="*/ 4188049 h 4810627"/>
              <a:gd name="connsiteX8" fmla="*/ 23808 w 5779457"/>
              <a:gd name="connsiteY8" fmla="*/ 4074837 h 4810627"/>
            </a:gdLst>
            <a:ahLst/>
            <a:cxnLst/>
            <a:rect l="l" t="t" r="r" b="b"/>
            <a:pathLst>
              <a:path w="5779457" h="4810627">
                <a:moveTo>
                  <a:pt x="23808" y="4074837"/>
                </a:moveTo>
                <a:cubicBezTo>
                  <a:pt x="398760" y="2374246"/>
                  <a:pt x="1283891" y="2684853"/>
                  <a:pt x="1739398" y="2009455"/>
                </a:cubicBezTo>
                <a:cubicBezTo>
                  <a:pt x="2194905" y="1334057"/>
                  <a:pt x="2228963" y="178209"/>
                  <a:pt x="2756849" y="22449"/>
                </a:cubicBezTo>
                <a:cubicBezTo>
                  <a:pt x="3284735" y="-133311"/>
                  <a:pt x="4562528" y="554169"/>
                  <a:pt x="4906715" y="1074895"/>
                </a:cubicBezTo>
                <a:cubicBezTo>
                  <a:pt x="5250902" y="1595621"/>
                  <a:pt x="4616449" y="1835848"/>
                  <a:pt x="4759820" y="2228620"/>
                </a:cubicBezTo>
                <a:cubicBezTo>
                  <a:pt x="4903191" y="2621392"/>
                  <a:pt x="5684296" y="2901479"/>
                  <a:pt x="5766942" y="3431528"/>
                </a:cubicBezTo>
                <a:cubicBezTo>
                  <a:pt x="5849588" y="3961577"/>
                  <a:pt x="5536078" y="4560450"/>
                  <a:pt x="4432691" y="4771837"/>
                </a:cubicBezTo>
                <a:cubicBezTo>
                  <a:pt x="3706977" y="4977456"/>
                  <a:pt x="1866063" y="4304216"/>
                  <a:pt x="1131249" y="4188049"/>
                </a:cubicBezTo>
                <a:cubicBezTo>
                  <a:pt x="396435" y="4071882"/>
                  <a:pt x="-118916" y="4440113"/>
                  <a:pt x="23808" y="407483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1050776" flipH="1">
            <a:off x="-4527156" y="3006775"/>
            <a:ext cx="9259285" cy="8227275"/>
          </a:xfrm>
          <a:custGeom>
            <a:avLst/>
            <a:gdLst>
              <a:gd name="connsiteX0" fmla="*/ 147978 w 5723542"/>
              <a:gd name="connsiteY0" fmla="*/ 4132960 h 5085615"/>
              <a:gd name="connsiteX1" fmla="*/ 1863568 w 5723542"/>
              <a:gd name="connsiteY1" fmla="*/ 2067578 h 5085615"/>
              <a:gd name="connsiteX2" fmla="*/ 2881019 w 5723542"/>
              <a:gd name="connsiteY2" fmla="*/ 80572 h 5085615"/>
              <a:gd name="connsiteX3" fmla="*/ 4985590 w 5723542"/>
              <a:gd name="connsiteY3" fmla="*/ 1125600 h 5085615"/>
              <a:gd name="connsiteX4" fmla="*/ 4883990 w 5723542"/>
              <a:gd name="connsiteY4" fmla="*/ 2286743 h 5085615"/>
              <a:gd name="connsiteX5" fmla="*/ 5609704 w 5723542"/>
              <a:gd name="connsiteY5" fmla="*/ 3012457 h 5085615"/>
              <a:gd name="connsiteX6" fmla="*/ 5246847 w 5723542"/>
              <a:gd name="connsiteY6" fmla="*/ 4057486 h 5085615"/>
              <a:gd name="connsiteX7" fmla="*/ 2831102 w 5723542"/>
              <a:gd name="connsiteY7" fmla="*/ 4994181 h 5085615"/>
              <a:gd name="connsiteX8" fmla="*/ 147978 w 5723542"/>
              <a:gd name="connsiteY8" fmla="*/ 4132960 h 5085615"/>
            </a:gdLst>
            <a:ahLst/>
            <a:cxnLst/>
            <a:rect l="l" t="t" r="r" b="b"/>
            <a:pathLst>
              <a:path w="5723542" h="5085615">
                <a:moveTo>
                  <a:pt x="147978" y="4132960"/>
                </a:moveTo>
                <a:cubicBezTo>
                  <a:pt x="-438410" y="2783354"/>
                  <a:pt x="838792" y="2763141"/>
                  <a:pt x="1863568" y="2067578"/>
                </a:cubicBezTo>
                <a:cubicBezTo>
                  <a:pt x="2888344" y="1372015"/>
                  <a:pt x="1728381" y="458729"/>
                  <a:pt x="2881019" y="80572"/>
                </a:cubicBezTo>
                <a:cubicBezTo>
                  <a:pt x="4033657" y="-297585"/>
                  <a:pt x="4651762" y="757905"/>
                  <a:pt x="4985590" y="1125600"/>
                </a:cubicBezTo>
                <a:cubicBezTo>
                  <a:pt x="5319419" y="1493295"/>
                  <a:pt x="4779971" y="1972267"/>
                  <a:pt x="4883990" y="2286743"/>
                </a:cubicBezTo>
                <a:cubicBezTo>
                  <a:pt x="4988009" y="2601219"/>
                  <a:pt x="5549228" y="2717333"/>
                  <a:pt x="5609704" y="3012457"/>
                </a:cubicBezTo>
                <a:cubicBezTo>
                  <a:pt x="5670180" y="3307581"/>
                  <a:pt x="5972561" y="3851867"/>
                  <a:pt x="5246847" y="4057486"/>
                </a:cubicBezTo>
                <a:cubicBezTo>
                  <a:pt x="4521133" y="4263105"/>
                  <a:pt x="3680913" y="4981602"/>
                  <a:pt x="2831102" y="4994181"/>
                </a:cubicBezTo>
                <a:cubicBezTo>
                  <a:pt x="1981291" y="5006760"/>
                  <a:pt x="734366" y="5482566"/>
                  <a:pt x="147978" y="413296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6724" y="1247377"/>
            <a:ext cx="10862176" cy="4886724"/>
          </a:xfrm>
          <a:prstGeom prst="roundRect">
            <a:avLst>
              <a:gd name="adj" fmla="val 4751"/>
            </a:avLst>
          </a:prstGeom>
          <a:solidFill>
            <a:schemeClr val="bg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8288" r="552"/>
          <a:stretch>
            <a:fillRect/>
          </a:stretch>
        </p:blipFill>
        <p:spPr>
          <a:xfrm>
            <a:off x="6662282" y="2709289"/>
            <a:ext cx="5525764" cy="33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1207523" y="1896568"/>
            <a:ext cx="3387338" cy="988128"/>
          </a:xfrm>
          <a:prstGeom prst="roundRect">
            <a:avLst/>
          </a:prstGeom>
          <a:solidFill>
            <a:schemeClr val="accent2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41860" y="1769569"/>
            <a:ext cx="1915740" cy="911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PART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400" y="548141"/>
            <a:ext cx="601019" cy="436823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68966" y="2098500"/>
            <a:ext cx="581228" cy="584264"/>
          </a:xfrm>
          <a:prstGeom prst="roundRect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171838" y="2319332"/>
            <a:ext cx="205894" cy="142598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748803" flipH="1" flipV="1">
            <a:off x="2130441" y="-2772041"/>
            <a:ext cx="5603911" cy="4273702"/>
          </a:xfrm>
          <a:custGeom>
            <a:avLst/>
            <a:gdLst>
              <a:gd name="connsiteX0" fmla="*/ 28347 w 5603911"/>
              <a:gd name="connsiteY0" fmla="*/ 4071831 h 4273702"/>
              <a:gd name="connsiteX1" fmla="*/ 1743937 w 5603911"/>
              <a:gd name="connsiteY1" fmla="*/ 2006449 h 4273702"/>
              <a:gd name="connsiteX2" fmla="*/ 2761388 w 5603911"/>
              <a:gd name="connsiteY2" fmla="*/ 19443 h 4273702"/>
              <a:gd name="connsiteX3" fmla="*/ 4865959 w 5603911"/>
              <a:gd name="connsiteY3" fmla="*/ 1064471 h 4273702"/>
              <a:gd name="connsiteX4" fmla="*/ 4764359 w 5603911"/>
              <a:gd name="connsiteY4" fmla="*/ 2225614 h 4273702"/>
              <a:gd name="connsiteX5" fmla="*/ 5490073 w 5603911"/>
              <a:gd name="connsiteY5" fmla="*/ 2951328 h 4273702"/>
              <a:gd name="connsiteX6" fmla="*/ 5127216 w 5603911"/>
              <a:gd name="connsiteY6" fmla="*/ 3996357 h 4273702"/>
              <a:gd name="connsiteX7" fmla="*/ 1135788 w 5603911"/>
              <a:gd name="connsiteY7" fmla="*/ 4185043 h 4273702"/>
              <a:gd name="connsiteX8" fmla="*/ 28347 w 5603911"/>
              <a:gd name="connsiteY8" fmla="*/ 4071831 h 4273702"/>
            </a:gdLst>
            <a:ahLst/>
            <a:cxnLst/>
            <a:rect l="l" t="t" r="r" b="b"/>
            <a:pathLst>
              <a:path w="5603911" h="4273702">
                <a:moveTo>
                  <a:pt x="28347" y="4071831"/>
                </a:moveTo>
                <a:cubicBezTo>
                  <a:pt x="403299" y="2371240"/>
                  <a:pt x="1288430" y="2681847"/>
                  <a:pt x="1743937" y="2006449"/>
                </a:cubicBezTo>
                <a:cubicBezTo>
                  <a:pt x="2199444" y="1331051"/>
                  <a:pt x="2241051" y="176439"/>
                  <a:pt x="2761388" y="19443"/>
                </a:cubicBezTo>
                <a:cubicBezTo>
                  <a:pt x="3281725" y="-137553"/>
                  <a:pt x="4532131" y="696776"/>
                  <a:pt x="4865959" y="1064471"/>
                </a:cubicBezTo>
                <a:cubicBezTo>
                  <a:pt x="5199788" y="1432166"/>
                  <a:pt x="4660340" y="1911138"/>
                  <a:pt x="4764359" y="2225614"/>
                </a:cubicBezTo>
                <a:cubicBezTo>
                  <a:pt x="4868378" y="2540090"/>
                  <a:pt x="5429597" y="2656204"/>
                  <a:pt x="5490073" y="2951328"/>
                </a:cubicBezTo>
                <a:cubicBezTo>
                  <a:pt x="5550549" y="3246452"/>
                  <a:pt x="5852930" y="3790738"/>
                  <a:pt x="5127216" y="3996357"/>
                </a:cubicBezTo>
                <a:cubicBezTo>
                  <a:pt x="4401502" y="4201976"/>
                  <a:pt x="1985599" y="4172464"/>
                  <a:pt x="1135788" y="4185043"/>
                </a:cubicBezTo>
                <a:cubicBezTo>
                  <a:pt x="285977" y="4197622"/>
                  <a:pt x="-114377" y="4437107"/>
                  <a:pt x="28347" y="407183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37180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1388827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099056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11150703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860931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10912578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8795937" flipV="1">
            <a:off x="697676" y="4552977"/>
            <a:ext cx="1945031" cy="2297530"/>
          </a:xfrm>
          <a:custGeom>
            <a:avLst/>
            <a:gdLst>
              <a:gd name="connsiteX0" fmla="*/ 1416699 w 1945031"/>
              <a:gd name="connsiteY0" fmla="*/ 0 h 2297530"/>
              <a:gd name="connsiteX1" fmla="*/ 1361827 w 1945031"/>
              <a:gd name="connsiteY1" fmla="*/ 50273 h 2297530"/>
              <a:gd name="connsiteX2" fmla="*/ 1008262 w 1945031"/>
              <a:gd name="connsiteY2" fmla="*/ 1046675 h 2297530"/>
              <a:gd name="connsiteX3" fmla="*/ 10296 w 1945031"/>
              <a:gd name="connsiteY3" fmla="*/ 2248118 h 2297530"/>
              <a:gd name="connsiteX4" fmla="*/ 0 w 1945031"/>
              <a:gd name="connsiteY4" fmla="*/ 2297530 h 2297530"/>
              <a:gd name="connsiteX5" fmla="*/ 1830382 w 1945031"/>
              <a:gd name="connsiteY5" fmla="*/ 1090567 h 2297530"/>
              <a:gd name="connsiteX6" fmla="*/ 1902887 w 1945031"/>
              <a:gd name="connsiteY6" fmla="*/ 737314 h 2297530"/>
            </a:gdLst>
            <a:ahLst/>
            <a:cxnLst/>
            <a:rect l="l" t="t" r="r" b="b"/>
            <a:pathLst>
              <a:path w="1945031" h="2297530">
                <a:moveTo>
                  <a:pt x="1416699" y="0"/>
                </a:moveTo>
                <a:lnTo>
                  <a:pt x="1361827" y="50273"/>
                </a:lnTo>
                <a:cubicBezTo>
                  <a:pt x="1126997" y="302966"/>
                  <a:pt x="1299173" y="649343"/>
                  <a:pt x="1008262" y="1046675"/>
                </a:cubicBezTo>
                <a:cubicBezTo>
                  <a:pt x="650219" y="1535700"/>
                  <a:pt x="228407" y="1258876"/>
                  <a:pt x="10296" y="2248118"/>
                </a:cubicBezTo>
                <a:lnTo>
                  <a:pt x="0" y="2297530"/>
                </a:lnTo>
                <a:lnTo>
                  <a:pt x="1830382" y="1090567"/>
                </a:lnTo>
                <a:cubicBezTo>
                  <a:pt x="1947952" y="1013041"/>
                  <a:pt x="1980414" y="854884"/>
                  <a:pt x="1902887" y="7373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12834" y="3147108"/>
            <a:ext cx="5192715" cy="16222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Conclusion and Future Work</a:t>
            </a:r>
            <a:endParaRPr kumimoji="1" lang="zh-CN" altLang="en-US" dirty="0"/>
          </a:p>
        </p:txBody>
      </p:sp>
      <p:sp>
        <p:nvSpPr>
          <p:cNvPr id="21" name="标题 1"/>
          <p:cNvSpPr txBox="1"/>
          <p:nvPr/>
        </p:nvSpPr>
        <p:spPr>
          <a:xfrm>
            <a:off x="1695450" y="5028901"/>
            <a:ext cx="2880000" cy="36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128075" y="5001901"/>
            <a:ext cx="1047118" cy="9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533993" y="508557"/>
            <a:ext cx="1915740" cy="21729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3</a:t>
            </a:r>
            <a:endParaRPr kumimoji="1" lang="zh-CN" altLang="en-US" dirty="0"/>
          </a:p>
        </p:txBody>
      </p:sp>
      <p:sp>
        <p:nvSpPr>
          <p:cNvPr id="24" name="标题 1"/>
          <p:cNvSpPr txBox="1"/>
          <p:nvPr/>
        </p:nvSpPr>
        <p:spPr>
          <a:xfrm>
            <a:off x="5081770" y="1074025"/>
            <a:ext cx="322474" cy="322474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0845800" y="1305560"/>
            <a:ext cx="970280" cy="6814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9600">
                <a:ln w="15875">
                  <a:solidFill>
                    <a:srgbClr val="3860F4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”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03910" y="1625920"/>
            <a:ext cx="10571480" cy="3860480"/>
          </a:xfrm>
          <a:prstGeom prst="round1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03910" y="1632873"/>
            <a:ext cx="73660" cy="3827623"/>
          </a:xfrm>
          <a:prstGeom prst="roundRect">
            <a:avLst>
              <a:gd name="adj" fmla="val 5422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Model Comparison</a:t>
            </a:r>
            <a:endParaRPr kumimoji="1" lang="zh-CN" altLang="en-US" dirty="0"/>
          </a:p>
        </p:txBody>
      </p:sp>
      <p:cxnSp>
        <p:nvCxnSpPr>
          <p:cNvPr id="9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3611245-6B97-AAA7-8F57-A68EC1E86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24" y="2893218"/>
            <a:ext cx="9824586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5349732" y="3803104"/>
            <a:ext cx="1780560" cy="695255"/>
          </a:xfrm>
          <a:custGeom>
            <a:avLst/>
            <a:gdLst>
              <a:gd name="T0" fmla="*/ 1157 w 1438"/>
              <a:gd name="T1" fmla="*/ 0 h 562"/>
              <a:gd name="T2" fmla="*/ 1438 w 1438"/>
              <a:gd name="T3" fmla="*/ 281 h 562"/>
              <a:gd name="T4" fmla="*/ 1157 w 1438"/>
              <a:gd name="T5" fmla="*/ 562 h 562"/>
              <a:gd name="T6" fmla="*/ 1156 w 1438"/>
              <a:gd name="T7" fmla="*/ 562 h 562"/>
              <a:gd name="T8" fmla="*/ 282 w 1438"/>
              <a:gd name="T9" fmla="*/ 562 h 562"/>
              <a:gd name="T10" fmla="*/ 281 w 1438"/>
              <a:gd name="T11" fmla="*/ 562 h 562"/>
              <a:gd name="T12" fmla="*/ 0 w 1438"/>
              <a:gd name="T13" fmla="*/ 281 h 562"/>
              <a:gd name="T14" fmla="*/ 281 w 1438"/>
              <a:gd name="T15" fmla="*/ 0 h 562"/>
              <a:gd name="T16" fmla="*/ 288 w 1438"/>
              <a:gd name="T17" fmla="*/ 0 h 562"/>
              <a:gd name="T18" fmla="*/ 281 w 1438"/>
              <a:gd name="T19" fmla="*/ 0 h 562"/>
              <a:gd name="T20" fmla="*/ 1078 w 1438"/>
              <a:gd name="T21" fmla="*/ 0 h 562"/>
              <a:gd name="T22" fmla="*/ 1157 w 1438"/>
              <a:gd name="T23" fmla="*/ 0 h 562"/>
            </a:gdLst>
            <a:ahLst/>
            <a:cxnLst/>
            <a:rect l="0" t="0" r="r" b="b"/>
            <a:pathLst>
              <a:path w="1438" h="562">
                <a:moveTo>
                  <a:pt x="1157" y="0"/>
                </a:moveTo>
                <a:cubicBezTo>
                  <a:pt x="1312" y="0"/>
                  <a:pt x="1438" y="126"/>
                  <a:pt x="1438" y="281"/>
                </a:cubicBezTo>
                <a:cubicBezTo>
                  <a:pt x="1438" y="436"/>
                  <a:pt x="1312" y="562"/>
                  <a:pt x="1157" y="562"/>
                </a:cubicBezTo>
                <a:cubicBezTo>
                  <a:pt x="1151" y="562"/>
                  <a:pt x="1147" y="562"/>
                  <a:pt x="1156" y="562"/>
                </a:cubicBezTo>
                <a:cubicBezTo>
                  <a:pt x="865" y="562"/>
                  <a:pt x="573" y="562"/>
                  <a:pt x="282" y="562"/>
                </a:cubicBezTo>
                <a:cubicBezTo>
                  <a:pt x="291" y="562"/>
                  <a:pt x="288" y="562"/>
                  <a:pt x="281" y="562"/>
                </a:cubicBezTo>
                <a:cubicBezTo>
                  <a:pt x="126" y="562"/>
                  <a:pt x="0" y="436"/>
                  <a:pt x="0" y="281"/>
                </a:cubicBezTo>
                <a:cubicBezTo>
                  <a:pt x="0" y="126"/>
                  <a:pt x="126" y="0"/>
                  <a:pt x="281" y="0"/>
                </a:cubicBezTo>
                <a:cubicBezTo>
                  <a:pt x="283" y="0"/>
                  <a:pt x="286" y="0"/>
                  <a:pt x="288" y="0"/>
                </a:cubicBezTo>
                <a:cubicBezTo>
                  <a:pt x="286" y="0"/>
                  <a:pt x="283" y="0"/>
                  <a:pt x="281" y="0"/>
                </a:cubicBezTo>
                <a:cubicBezTo>
                  <a:pt x="1078" y="0"/>
                  <a:pt x="1078" y="0"/>
                  <a:pt x="1078" y="0"/>
                </a:cubicBezTo>
                <a:lnTo>
                  <a:pt x="1157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440470" y="3879419"/>
            <a:ext cx="559291" cy="543755"/>
          </a:xfrm>
          <a:prstGeom prst="ellipse">
            <a:avLst/>
          </a:pr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139868" y="2930606"/>
            <a:ext cx="1779382" cy="696433"/>
          </a:xfrm>
          <a:custGeom>
            <a:avLst/>
            <a:gdLst>
              <a:gd name="T0" fmla="*/ 280 w 1437"/>
              <a:gd name="T1" fmla="*/ 0 h 562"/>
              <a:gd name="T2" fmla="*/ 0 w 1437"/>
              <a:gd name="T3" fmla="*/ 281 h 562"/>
              <a:gd name="T4" fmla="*/ 280 w 1437"/>
              <a:gd name="T5" fmla="*/ 562 h 562"/>
              <a:gd name="T6" fmla="*/ 281 w 1437"/>
              <a:gd name="T7" fmla="*/ 562 h 562"/>
              <a:gd name="T8" fmla="*/ 1155 w 1437"/>
              <a:gd name="T9" fmla="*/ 562 h 562"/>
              <a:gd name="T10" fmla="*/ 1156 w 1437"/>
              <a:gd name="T11" fmla="*/ 562 h 562"/>
              <a:gd name="T12" fmla="*/ 1437 w 1437"/>
              <a:gd name="T13" fmla="*/ 281 h 562"/>
              <a:gd name="T14" fmla="*/ 1156 w 1437"/>
              <a:gd name="T15" fmla="*/ 0 h 562"/>
              <a:gd name="T16" fmla="*/ 1149 w 1437"/>
              <a:gd name="T17" fmla="*/ 0 h 562"/>
              <a:gd name="T18" fmla="*/ 1156 w 1437"/>
              <a:gd name="T19" fmla="*/ 0 h 562"/>
              <a:gd name="T20" fmla="*/ 359 w 1437"/>
              <a:gd name="T21" fmla="*/ 0 h 562"/>
              <a:gd name="T22" fmla="*/ 280 w 1437"/>
              <a:gd name="T23" fmla="*/ 0 h 562"/>
            </a:gdLst>
            <a:ahLst/>
            <a:cxnLst/>
            <a:rect l="0" t="0" r="r" b="b"/>
            <a:pathLst>
              <a:path w="1437" h="562">
                <a:moveTo>
                  <a:pt x="280" y="0"/>
                </a:moveTo>
                <a:cubicBezTo>
                  <a:pt x="125" y="0"/>
                  <a:pt x="0" y="126"/>
                  <a:pt x="0" y="281"/>
                </a:cubicBezTo>
                <a:cubicBezTo>
                  <a:pt x="0" y="436"/>
                  <a:pt x="125" y="562"/>
                  <a:pt x="280" y="562"/>
                </a:cubicBezTo>
                <a:cubicBezTo>
                  <a:pt x="287" y="562"/>
                  <a:pt x="290" y="562"/>
                  <a:pt x="281" y="562"/>
                </a:cubicBezTo>
                <a:cubicBezTo>
                  <a:pt x="573" y="562"/>
                  <a:pt x="864" y="562"/>
                  <a:pt x="1155" y="562"/>
                </a:cubicBezTo>
                <a:cubicBezTo>
                  <a:pt x="1147" y="562"/>
                  <a:pt x="1150" y="562"/>
                  <a:pt x="1156" y="562"/>
                </a:cubicBezTo>
                <a:cubicBezTo>
                  <a:pt x="1311" y="562"/>
                  <a:pt x="1437" y="436"/>
                  <a:pt x="1437" y="281"/>
                </a:cubicBezTo>
                <a:cubicBezTo>
                  <a:pt x="1437" y="126"/>
                  <a:pt x="1311" y="0"/>
                  <a:pt x="1156" y="0"/>
                </a:cubicBezTo>
                <a:cubicBezTo>
                  <a:pt x="1154" y="0"/>
                  <a:pt x="1151" y="0"/>
                  <a:pt x="1149" y="0"/>
                </a:cubicBezTo>
                <a:cubicBezTo>
                  <a:pt x="1151" y="0"/>
                  <a:pt x="1154" y="0"/>
                  <a:pt x="1156" y="0"/>
                </a:cubicBezTo>
                <a:cubicBezTo>
                  <a:pt x="359" y="0"/>
                  <a:pt x="359" y="0"/>
                  <a:pt x="359" y="0"/>
                </a:cubicBezTo>
                <a:lnTo>
                  <a:pt x="280" y="0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269245" y="3006944"/>
            <a:ext cx="559291" cy="543755"/>
          </a:xfrm>
          <a:prstGeom prst="ellipse">
            <a:avLst/>
          </a:pr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349732" y="1888428"/>
            <a:ext cx="695255" cy="1779381"/>
          </a:xfrm>
          <a:custGeom>
            <a:avLst/>
            <a:gdLst>
              <a:gd name="T0" fmla="*/ 561 w 561"/>
              <a:gd name="T1" fmla="*/ 1157 h 1437"/>
              <a:gd name="T2" fmla="*/ 281 w 561"/>
              <a:gd name="T3" fmla="*/ 1437 h 1437"/>
              <a:gd name="T4" fmla="*/ 0 w 561"/>
              <a:gd name="T5" fmla="*/ 1157 h 1437"/>
              <a:gd name="T6" fmla="*/ 0 w 561"/>
              <a:gd name="T7" fmla="*/ 1156 h 1437"/>
              <a:gd name="T8" fmla="*/ 0 w 561"/>
              <a:gd name="T9" fmla="*/ 282 h 1437"/>
              <a:gd name="T10" fmla="*/ 0 w 561"/>
              <a:gd name="T11" fmla="*/ 281 h 1437"/>
              <a:gd name="T12" fmla="*/ 281 w 561"/>
              <a:gd name="T13" fmla="*/ 0 h 1437"/>
              <a:gd name="T14" fmla="*/ 561 w 561"/>
              <a:gd name="T15" fmla="*/ 281 h 1437"/>
              <a:gd name="T16" fmla="*/ 561 w 561"/>
              <a:gd name="T17" fmla="*/ 288 h 1437"/>
              <a:gd name="T18" fmla="*/ 561 w 561"/>
              <a:gd name="T19" fmla="*/ 281 h 1437"/>
              <a:gd name="T20" fmla="*/ 561 w 561"/>
              <a:gd name="T21" fmla="*/ 1078 h 1437"/>
              <a:gd name="T22" fmla="*/ 561 w 561"/>
              <a:gd name="T23" fmla="*/ 1157 h 1437"/>
            </a:gdLst>
            <a:ahLst/>
            <a:cxnLst/>
            <a:rect l="0" t="0" r="r" b="b"/>
            <a:pathLst>
              <a:path w="561" h="1437">
                <a:moveTo>
                  <a:pt x="561" y="1157"/>
                </a:moveTo>
                <a:cubicBezTo>
                  <a:pt x="561" y="1312"/>
                  <a:pt x="436" y="1437"/>
                  <a:pt x="281" y="1437"/>
                </a:cubicBezTo>
                <a:cubicBezTo>
                  <a:pt x="125" y="1437"/>
                  <a:pt x="0" y="1312"/>
                  <a:pt x="0" y="1157"/>
                </a:cubicBezTo>
                <a:cubicBezTo>
                  <a:pt x="0" y="1150"/>
                  <a:pt x="0" y="1147"/>
                  <a:pt x="0" y="1156"/>
                </a:cubicBezTo>
                <a:cubicBezTo>
                  <a:pt x="0" y="865"/>
                  <a:pt x="0" y="573"/>
                  <a:pt x="0" y="282"/>
                </a:cubicBezTo>
                <a:cubicBezTo>
                  <a:pt x="0" y="291"/>
                  <a:pt x="0" y="287"/>
                  <a:pt x="0" y="281"/>
                </a:cubicBezTo>
                <a:cubicBezTo>
                  <a:pt x="0" y="126"/>
                  <a:pt x="125" y="0"/>
                  <a:pt x="281" y="0"/>
                </a:cubicBezTo>
                <a:cubicBezTo>
                  <a:pt x="436" y="0"/>
                  <a:pt x="561" y="126"/>
                  <a:pt x="561" y="281"/>
                </a:cubicBezTo>
                <a:cubicBezTo>
                  <a:pt x="561" y="283"/>
                  <a:pt x="561" y="286"/>
                  <a:pt x="561" y="288"/>
                </a:cubicBezTo>
                <a:cubicBezTo>
                  <a:pt x="561" y="286"/>
                  <a:pt x="561" y="283"/>
                  <a:pt x="561" y="281"/>
                </a:cubicBezTo>
                <a:cubicBezTo>
                  <a:pt x="561" y="1078"/>
                  <a:pt x="561" y="1078"/>
                  <a:pt x="561" y="1078"/>
                </a:cubicBezTo>
                <a:lnTo>
                  <a:pt x="561" y="1157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24964" y="1979094"/>
            <a:ext cx="544791" cy="558255"/>
          </a:xfrm>
          <a:prstGeom prst="ellipse">
            <a:avLst/>
          </a:pr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93918" y="3780655"/>
            <a:ext cx="10161" cy="1129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571078" y="4009110"/>
            <a:ext cx="288014" cy="26111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435665" y="3122310"/>
            <a:ext cx="251851" cy="287623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2"/>
          </a:solidFill>
          <a:ln w="9525" cap="sq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553527" y="2114389"/>
            <a:ext cx="287665" cy="28766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1839657"/>
            <a:ext cx="4475480" cy="56053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Exploration of Other Models</a:t>
            </a:r>
            <a:endParaRPr kumimoji="1" lang="zh-CN" altLang="en-US" sz="2200" dirty="0"/>
          </a:p>
        </p:txBody>
      </p:sp>
      <p:sp>
        <p:nvSpPr>
          <p:cNvPr id="14" name="标题 1"/>
          <p:cNvSpPr txBox="1"/>
          <p:nvPr/>
        </p:nvSpPr>
        <p:spPr>
          <a:xfrm>
            <a:off x="660401" y="2496921"/>
            <a:ext cx="4475480" cy="11301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Try </a:t>
            </a:r>
            <a:r>
              <a:rPr kumimoji="1" lang="en-US" altLang="zh-CN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RoBERTa</a:t>
            </a: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, ALBERT.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043940" y="3983711"/>
            <a:ext cx="4175296" cy="56053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Hardware Acceleration</a:t>
            </a:r>
            <a:endParaRPr kumimoji="1" lang="zh-CN" altLang="en-US" sz="2200" dirty="0"/>
          </a:p>
        </p:txBody>
      </p:sp>
      <p:sp>
        <p:nvSpPr>
          <p:cNvPr id="16" name="标题 1"/>
          <p:cNvSpPr txBox="1"/>
          <p:nvPr/>
        </p:nvSpPr>
        <p:spPr>
          <a:xfrm>
            <a:off x="1043940" y="4647106"/>
            <a:ext cx="4175296" cy="11301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Use hardware acceleration.</a:t>
            </a:r>
            <a:endParaRPr kumimoji="1" lang="zh-CN" altLang="en-US" dirty="0"/>
          </a:p>
        </p:txBody>
      </p:sp>
      <p:sp>
        <p:nvSpPr>
          <p:cNvPr id="17" name="标题 1"/>
          <p:cNvSpPr txBox="1"/>
          <p:nvPr/>
        </p:nvSpPr>
        <p:spPr>
          <a:xfrm>
            <a:off x="7435665" y="1839657"/>
            <a:ext cx="4884898" cy="56053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Data Augmentation Techniques</a:t>
            </a:r>
            <a:endParaRPr kumimoji="1" lang="zh-CN" altLang="en-US" sz="2200" dirty="0"/>
          </a:p>
        </p:txBody>
      </p:sp>
      <p:sp>
        <p:nvSpPr>
          <p:cNvPr id="18" name="标题 1"/>
          <p:cNvSpPr txBox="1"/>
          <p:nvPr/>
        </p:nvSpPr>
        <p:spPr>
          <a:xfrm>
            <a:off x="7435665" y="2441885"/>
            <a:ext cx="3478379" cy="11301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Apply data augmentation.</a:t>
            </a:r>
            <a:endParaRPr kumimoji="1" lang="zh-CN" altLang="en-US" dirty="0"/>
          </a:p>
        </p:txBody>
      </p:sp>
      <p:sp>
        <p:nvSpPr>
          <p:cNvPr id="19" name="标题 1"/>
          <p:cNvSpPr txBox="1"/>
          <p:nvPr/>
        </p:nvSpPr>
        <p:spPr>
          <a:xfrm>
            <a:off x="317500" y="500002"/>
            <a:ext cx="1115822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Directions for Future Work</a:t>
            </a:r>
            <a:endParaRPr kumimoji="1" lang="zh-CN" altLang="en-US"/>
          </a:p>
        </p:txBody>
      </p:sp>
      <p:cxnSp>
        <p:nvCxnSpPr>
          <p:cNvPr id="20" name="标题 1"/>
          <p:cNvCxnSpPr/>
          <p:nvPr/>
        </p:nvCxnSpPr>
        <p:spPr>
          <a:xfrm>
            <a:off x="317500" y="329335"/>
            <a:ext cx="635000" cy="0"/>
          </a:xfrm>
          <a:prstGeom prst="line">
            <a:avLst/>
          </a:prstGeom>
          <a:noFill/>
          <a:ln w="101600" cap="sq">
            <a:solidFill>
              <a:schemeClr val="accent1"/>
            </a:solidFill>
            <a:prstDash val="solid"/>
            <a:miter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标题 1"/>
          <p:cNvSpPr txBox="1"/>
          <p:nvPr/>
        </p:nvSpPr>
        <p:spPr>
          <a:xfrm rot="19935871" flipH="1" flipV="1">
            <a:off x="9548086" y="-2405314"/>
            <a:ext cx="5779457" cy="4810627"/>
          </a:xfrm>
          <a:custGeom>
            <a:avLst/>
            <a:gdLst>
              <a:gd name="connsiteX0" fmla="*/ 23808 w 5779457"/>
              <a:gd name="connsiteY0" fmla="*/ 4074837 h 4810627"/>
              <a:gd name="connsiteX1" fmla="*/ 1739398 w 5779457"/>
              <a:gd name="connsiteY1" fmla="*/ 2009455 h 4810627"/>
              <a:gd name="connsiteX2" fmla="*/ 2756849 w 5779457"/>
              <a:gd name="connsiteY2" fmla="*/ 22449 h 4810627"/>
              <a:gd name="connsiteX3" fmla="*/ 4906715 w 5779457"/>
              <a:gd name="connsiteY3" fmla="*/ 1074895 h 4810627"/>
              <a:gd name="connsiteX4" fmla="*/ 4759820 w 5779457"/>
              <a:gd name="connsiteY4" fmla="*/ 2228620 h 4810627"/>
              <a:gd name="connsiteX5" fmla="*/ 5766942 w 5779457"/>
              <a:gd name="connsiteY5" fmla="*/ 3431528 h 4810627"/>
              <a:gd name="connsiteX6" fmla="*/ 4432691 w 5779457"/>
              <a:gd name="connsiteY6" fmla="*/ 4771837 h 4810627"/>
              <a:gd name="connsiteX7" fmla="*/ 1131249 w 5779457"/>
              <a:gd name="connsiteY7" fmla="*/ 4188049 h 4810627"/>
              <a:gd name="connsiteX8" fmla="*/ 23808 w 5779457"/>
              <a:gd name="connsiteY8" fmla="*/ 4074837 h 4810627"/>
            </a:gdLst>
            <a:ahLst/>
            <a:cxnLst/>
            <a:rect l="l" t="t" r="r" b="b"/>
            <a:pathLst>
              <a:path w="5779457" h="4810627">
                <a:moveTo>
                  <a:pt x="23808" y="4074837"/>
                </a:moveTo>
                <a:cubicBezTo>
                  <a:pt x="398760" y="2374246"/>
                  <a:pt x="1283891" y="2684853"/>
                  <a:pt x="1739398" y="2009455"/>
                </a:cubicBezTo>
                <a:cubicBezTo>
                  <a:pt x="2194905" y="1334057"/>
                  <a:pt x="2228963" y="178209"/>
                  <a:pt x="2756849" y="22449"/>
                </a:cubicBezTo>
                <a:cubicBezTo>
                  <a:pt x="3284735" y="-133311"/>
                  <a:pt x="4562528" y="554169"/>
                  <a:pt x="4906715" y="1074895"/>
                </a:cubicBezTo>
                <a:cubicBezTo>
                  <a:pt x="5250902" y="1595621"/>
                  <a:pt x="4616449" y="1835848"/>
                  <a:pt x="4759820" y="2228620"/>
                </a:cubicBezTo>
                <a:cubicBezTo>
                  <a:pt x="4903191" y="2621392"/>
                  <a:pt x="5684296" y="2901479"/>
                  <a:pt x="5766942" y="3431528"/>
                </a:cubicBezTo>
                <a:cubicBezTo>
                  <a:pt x="5849588" y="3961577"/>
                  <a:pt x="5536078" y="4560450"/>
                  <a:pt x="4432691" y="4771837"/>
                </a:cubicBezTo>
                <a:cubicBezTo>
                  <a:pt x="3706977" y="4977456"/>
                  <a:pt x="1866063" y="4304216"/>
                  <a:pt x="1131249" y="4188049"/>
                </a:cubicBezTo>
                <a:cubicBezTo>
                  <a:pt x="396435" y="4071882"/>
                  <a:pt x="-118916" y="4440113"/>
                  <a:pt x="23808" y="407483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1050776" flipH="1">
            <a:off x="-4527156" y="3006775"/>
            <a:ext cx="9259285" cy="8227275"/>
          </a:xfrm>
          <a:custGeom>
            <a:avLst/>
            <a:gdLst>
              <a:gd name="connsiteX0" fmla="*/ 147978 w 5723542"/>
              <a:gd name="connsiteY0" fmla="*/ 4132960 h 5085615"/>
              <a:gd name="connsiteX1" fmla="*/ 1863568 w 5723542"/>
              <a:gd name="connsiteY1" fmla="*/ 2067578 h 5085615"/>
              <a:gd name="connsiteX2" fmla="*/ 2881019 w 5723542"/>
              <a:gd name="connsiteY2" fmla="*/ 80572 h 5085615"/>
              <a:gd name="connsiteX3" fmla="*/ 4985590 w 5723542"/>
              <a:gd name="connsiteY3" fmla="*/ 1125600 h 5085615"/>
              <a:gd name="connsiteX4" fmla="*/ 4883990 w 5723542"/>
              <a:gd name="connsiteY4" fmla="*/ 2286743 h 5085615"/>
              <a:gd name="connsiteX5" fmla="*/ 5609704 w 5723542"/>
              <a:gd name="connsiteY5" fmla="*/ 3012457 h 5085615"/>
              <a:gd name="connsiteX6" fmla="*/ 5246847 w 5723542"/>
              <a:gd name="connsiteY6" fmla="*/ 4057486 h 5085615"/>
              <a:gd name="connsiteX7" fmla="*/ 2831102 w 5723542"/>
              <a:gd name="connsiteY7" fmla="*/ 4994181 h 5085615"/>
              <a:gd name="connsiteX8" fmla="*/ 147978 w 5723542"/>
              <a:gd name="connsiteY8" fmla="*/ 4132960 h 5085615"/>
            </a:gdLst>
            <a:ahLst/>
            <a:cxnLst/>
            <a:rect l="l" t="t" r="r" b="b"/>
            <a:pathLst>
              <a:path w="5723542" h="5085615">
                <a:moveTo>
                  <a:pt x="147978" y="4132960"/>
                </a:moveTo>
                <a:cubicBezTo>
                  <a:pt x="-438410" y="2783354"/>
                  <a:pt x="838792" y="2763141"/>
                  <a:pt x="1863568" y="2067578"/>
                </a:cubicBezTo>
                <a:cubicBezTo>
                  <a:pt x="2888344" y="1372015"/>
                  <a:pt x="1728381" y="458729"/>
                  <a:pt x="2881019" y="80572"/>
                </a:cubicBezTo>
                <a:cubicBezTo>
                  <a:pt x="4033657" y="-297585"/>
                  <a:pt x="4651762" y="757905"/>
                  <a:pt x="4985590" y="1125600"/>
                </a:cubicBezTo>
                <a:cubicBezTo>
                  <a:pt x="5319419" y="1493295"/>
                  <a:pt x="4779971" y="1972267"/>
                  <a:pt x="4883990" y="2286743"/>
                </a:cubicBezTo>
                <a:cubicBezTo>
                  <a:pt x="4988009" y="2601219"/>
                  <a:pt x="5549228" y="2717333"/>
                  <a:pt x="5609704" y="3012457"/>
                </a:cubicBezTo>
                <a:cubicBezTo>
                  <a:pt x="5670180" y="3307581"/>
                  <a:pt x="5972561" y="3851867"/>
                  <a:pt x="5246847" y="4057486"/>
                </a:cubicBezTo>
                <a:cubicBezTo>
                  <a:pt x="4521133" y="4263105"/>
                  <a:pt x="3680913" y="4981602"/>
                  <a:pt x="2831102" y="4994181"/>
                </a:cubicBezTo>
                <a:cubicBezTo>
                  <a:pt x="1981291" y="5006760"/>
                  <a:pt x="734366" y="5482566"/>
                  <a:pt x="147978" y="413296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6724" y="1247377"/>
            <a:ext cx="10862176" cy="4886724"/>
          </a:xfrm>
          <a:prstGeom prst="roundRect">
            <a:avLst>
              <a:gd name="adj" fmla="val 4751"/>
            </a:avLst>
          </a:prstGeom>
          <a:solidFill>
            <a:schemeClr val="bg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8288" r="552"/>
          <a:stretch>
            <a:fillRect/>
          </a:stretch>
        </p:blipFill>
        <p:spPr>
          <a:xfrm>
            <a:off x="6662282" y="2709289"/>
            <a:ext cx="5525764" cy="33971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1741860" y="1769569"/>
            <a:ext cx="1915740" cy="911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PART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 rot="5400000">
            <a:off x="1171838" y="2319332"/>
            <a:ext cx="205894" cy="142598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2748803" flipH="1" flipV="1">
            <a:off x="2130441" y="-2772041"/>
            <a:ext cx="5603911" cy="4273702"/>
          </a:xfrm>
          <a:custGeom>
            <a:avLst/>
            <a:gdLst>
              <a:gd name="connsiteX0" fmla="*/ 28347 w 5603911"/>
              <a:gd name="connsiteY0" fmla="*/ 4071831 h 4273702"/>
              <a:gd name="connsiteX1" fmla="*/ 1743937 w 5603911"/>
              <a:gd name="connsiteY1" fmla="*/ 2006449 h 4273702"/>
              <a:gd name="connsiteX2" fmla="*/ 2761388 w 5603911"/>
              <a:gd name="connsiteY2" fmla="*/ 19443 h 4273702"/>
              <a:gd name="connsiteX3" fmla="*/ 4865959 w 5603911"/>
              <a:gd name="connsiteY3" fmla="*/ 1064471 h 4273702"/>
              <a:gd name="connsiteX4" fmla="*/ 4764359 w 5603911"/>
              <a:gd name="connsiteY4" fmla="*/ 2225614 h 4273702"/>
              <a:gd name="connsiteX5" fmla="*/ 5490073 w 5603911"/>
              <a:gd name="connsiteY5" fmla="*/ 2951328 h 4273702"/>
              <a:gd name="connsiteX6" fmla="*/ 5127216 w 5603911"/>
              <a:gd name="connsiteY6" fmla="*/ 3996357 h 4273702"/>
              <a:gd name="connsiteX7" fmla="*/ 1135788 w 5603911"/>
              <a:gd name="connsiteY7" fmla="*/ 4185043 h 4273702"/>
              <a:gd name="connsiteX8" fmla="*/ 28347 w 5603911"/>
              <a:gd name="connsiteY8" fmla="*/ 4071831 h 4273702"/>
            </a:gdLst>
            <a:ahLst/>
            <a:cxnLst/>
            <a:rect l="l" t="t" r="r" b="b"/>
            <a:pathLst>
              <a:path w="5603911" h="4273702">
                <a:moveTo>
                  <a:pt x="28347" y="4071831"/>
                </a:moveTo>
                <a:cubicBezTo>
                  <a:pt x="403299" y="2371240"/>
                  <a:pt x="1288430" y="2681847"/>
                  <a:pt x="1743937" y="2006449"/>
                </a:cubicBezTo>
                <a:cubicBezTo>
                  <a:pt x="2199444" y="1331051"/>
                  <a:pt x="2241051" y="176439"/>
                  <a:pt x="2761388" y="19443"/>
                </a:cubicBezTo>
                <a:cubicBezTo>
                  <a:pt x="3281725" y="-137553"/>
                  <a:pt x="4532131" y="696776"/>
                  <a:pt x="4865959" y="1064471"/>
                </a:cubicBezTo>
                <a:cubicBezTo>
                  <a:pt x="5199788" y="1432166"/>
                  <a:pt x="4660340" y="1911138"/>
                  <a:pt x="4764359" y="2225614"/>
                </a:cubicBezTo>
                <a:cubicBezTo>
                  <a:pt x="4868378" y="2540090"/>
                  <a:pt x="5429597" y="2656204"/>
                  <a:pt x="5490073" y="2951328"/>
                </a:cubicBezTo>
                <a:cubicBezTo>
                  <a:pt x="5550549" y="3246452"/>
                  <a:pt x="5852930" y="3790738"/>
                  <a:pt x="5127216" y="3996357"/>
                </a:cubicBezTo>
                <a:cubicBezTo>
                  <a:pt x="4401502" y="4201976"/>
                  <a:pt x="1985599" y="4172464"/>
                  <a:pt x="1135788" y="4185043"/>
                </a:cubicBezTo>
                <a:cubicBezTo>
                  <a:pt x="285977" y="4197622"/>
                  <a:pt x="-114377" y="4437107"/>
                  <a:pt x="28347" y="407183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37180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11388827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099056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11150703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860931" y="6415566"/>
            <a:ext cx="179086" cy="180022"/>
          </a:xfrm>
          <a:prstGeom prst="roundRect">
            <a:avLst/>
          </a:prstGeom>
          <a:solidFill>
            <a:schemeClr val="accent1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10912578" y="6474783"/>
            <a:ext cx="88924" cy="61587"/>
          </a:xfrm>
          <a:prstGeom prst="triangl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8795937" flipV="1">
            <a:off x="697676" y="4552977"/>
            <a:ext cx="1945031" cy="2297530"/>
          </a:xfrm>
          <a:custGeom>
            <a:avLst/>
            <a:gdLst>
              <a:gd name="connsiteX0" fmla="*/ 1416699 w 1945031"/>
              <a:gd name="connsiteY0" fmla="*/ 0 h 2297530"/>
              <a:gd name="connsiteX1" fmla="*/ 1361827 w 1945031"/>
              <a:gd name="connsiteY1" fmla="*/ 50273 h 2297530"/>
              <a:gd name="connsiteX2" fmla="*/ 1008262 w 1945031"/>
              <a:gd name="connsiteY2" fmla="*/ 1046675 h 2297530"/>
              <a:gd name="connsiteX3" fmla="*/ 10296 w 1945031"/>
              <a:gd name="connsiteY3" fmla="*/ 2248118 h 2297530"/>
              <a:gd name="connsiteX4" fmla="*/ 0 w 1945031"/>
              <a:gd name="connsiteY4" fmla="*/ 2297530 h 2297530"/>
              <a:gd name="connsiteX5" fmla="*/ 1830382 w 1945031"/>
              <a:gd name="connsiteY5" fmla="*/ 1090567 h 2297530"/>
              <a:gd name="connsiteX6" fmla="*/ 1902887 w 1945031"/>
              <a:gd name="connsiteY6" fmla="*/ 737314 h 2297530"/>
            </a:gdLst>
            <a:ahLst/>
            <a:cxnLst/>
            <a:rect l="l" t="t" r="r" b="b"/>
            <a:pathLst>
              <a:path w="1945031" h="2297530">
                <a:moveTo>
                  <a:pt x="1416699" y="0"/>
                </a:moveTo>
                <a:lnTo>
                  <a:pt x="1361827" y="50273"/>
                </a:lnTo>
                <a:cubicBezTo>
                  <a:pt x="1126997" y="302966"/>
                  <a:pt x="1299173" y="649343"/>
                  <a:pt x="1008262" y="1046675"/>
                </a:cubicBezTo>
                <a:cubicBezTo>
                  <a:pt x="650219" y="1535700"/>
                  <a:pt x="228407" y="1258876"/>
                  <a:pt x="10296" y="2248118"/>
                </a:cubicBezTo>
                <a:lnTo>
                  <a:pt x="0" y="2297530"/>
                </a:lnTo>
                <a:lnTo>
                  <a:pt x="1830382" y="1090567"/>
                </a:lnTo>
                <a:cubicBezTo>
                  <a:pt x="1947952" y="1013041"/>
                  <a:pt x="1980414" y="854884"/>
                  <a:pt x="1902887" y="737314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12834" y="3147108"/>
            <a:ext cx="5192715" cy="16222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Q&amp;A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695450" y="5028901"/>
            <a:ext cx="2880000" cy="36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128075" y="5001901"/>
            <a:ext cx="1047118" cy="9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533993" y="508557"/>
            <a:ext cx="1915740" cy="21729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480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Normal"/>
                <a:ea typeface="Source Han Sans CN Normal"/>
                <a:cs typeface="Source Han Sans CN Normal"/>
              </a:rPr>
              <a:t>010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5081770" y="1074025"/>
            <a:ext cx="322474" cy="322474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tx1">
                <a:lumMod val="75000"/>
                <a:lumOff val="2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666C9"/>
      </a:accent1>
      <a:accent2>
        <a:srgbClr val="F47A3E"/>
      </a:accent2>
      <a:accent3>
        <a:srgbClr val="8ABAE8"/>
      </a:accent3>
      <a:accent4>
        <a:srgbClr val="B77300"/>
      </a:accent4>
      <a:accent5>
        <a:srgbClr val="3098F5"/>
      </a:accent5>
      <a:accent6>
        <a:srgbClr val="BD9F17"/>
      </a:accent6>
      <a:hlink>
        <a:srgbClr val="305BF5"/>
      </a:hlink>
      <a:folHlink>
        <a:srgbClr val="BFBFB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536</Words>
  <Application>Microsoft Macintosh PowerPoint</Application>
  <PresentationFormat>Widescreen</PresentationFormat>
  <Paragraphs>122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Source Han Sans CN Bold Bold</vt:lpstr>
      <vt:lpstr>Aptos Display</vt:lpstr>
      <vt:lpstr>OPPOSans B</vt:lpstr>
      <vt:lpstr>OPPOSans H</vt:lpstr>
      <vt:lpstr>Source Han Sans CN Normal</vt:lpstr>
      <vt:lpstr>Aptos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#ZHOU GAOQIANG#</cp:lastModifiedBy>
  <cp:revision>23</cp:revision>
  <dcterms:modified xsi:type="dcterms:W3CDTF">2025-04-16T11:05:13Z</dcterms:modified>
</cp:coreProperties>
</file>